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7FA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3E9A1-0AB6-4AB9-8D3D-45EBD8D0CE9C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92744-3A56-4FAE-893F-D1EF05BC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6486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Retirar a “Diretoria Adj. De Desenvolvimento Industrial”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2744-3A56-4FAE-893F-D1EF05BCA48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615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Adicionar uma nova iniciativa, iniciativas devem ter as caixas pontilhadas para diferenciar o entendimento.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2744-3A56-4FAE-893F-D1EF05BCA48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092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2744-3A56-4FAE-893F-D1EF05BCA48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4566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Retirar a Diretoria Adj. E o Mario Sergio Se torna o novo diretor de desenvolvimento industrial.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2744-3A56-4FAE-893F-D1EF05BCA48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391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B7DC4-E898-8337-7087-22CC3F201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7D3FD3-8022-4702-7411-0BBAD9796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503AAF-6EBA-BF35-D289-32869C24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988EE4-8979-05A2-326C-0722CB65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5DCC2B-D85F-E655-467F-07B505DD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4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D98D2-3396-350D-163B-F1853A24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65230A-F043-A4E5-6B21-16764594D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5A6DAC-4424-9FF3-74A9-7D08484CB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0FEA97-B805-E419-1771-067C4C1B5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C0581F-E869-9797-5FCC-F9EC67EC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45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C5361-338A-97B8-EB14-A71BF0AA8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EAF840-5BD2-59CA-BA84-158933F01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13068D-5893-0FA5-819C-C45EC063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594582-8DEA-2593-AC8A-9BE83C60C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C00790-3D54-C5C8-D811-AE53713B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50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6E0F1-CB61-8AB0-5A5C-C3232C87E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FCCFCC-7743-753A-0762-6A90DF3DA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6000FA-37A6-D2A6-38B0-0832E6B54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E25273-8E4E-2E70-616C-54481389E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A7A4A6-A694-8CB7-145A-D726A9EC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F92195-C870-F1D9-6A69-930AC1649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47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6DC37-98F8-6185-994A-9138EE53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65C368-D452-9381-26B0-701A16F6E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51910F-596C-C052-DBC5-32050ED46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B9D4E19-A964-58C6-12AA-34249E8AC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C94DE6D-06BF-8CEF-2D39-92D65059A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13BCB0-91E2-4C87-0595-D110DAC9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EF2236-13ED-C0EB-2417-9A798259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FB48626-C984-8C25-8003-27FED03A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401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8B7A5-54E1-BB09-8FBB-B9D3910A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7CE0099-5280-9C15-88FC-BCAAE0870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033CEB-5B80-327D-C67E-F7199BA0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A95F389-9518-1A2F-FA70-13F8D6AB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77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19DF4C0-637D-C80A-FCC4-57508BB2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D4FDD4-A3FE-A6D4-F630-609AC69A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07CB49-8F47-460C-D631-CFF82C2F1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43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A822F-1431-CE6B-8AA8-F9622945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F49ED2-302C-7D21-A31B-1E846AAFC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E85827-65A8-ADFD-FC2F-DC98CBBFC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6EA14-2E46-F976-67B6-4FB3EDFD1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D3741E-AE64-19F0-F1B2-E4E26DC1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A2D202-38FB-7028-6777-597D19CE9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856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40B05-0303-F61A-BCF8-FBA8895C9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95AB47-B5CF-EA3E-A646-7A22BFC7E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2DE3C6-541A-9542-D8AF-5AFF225C8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014E26-8930-30E7-2941-CB0C5DA39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A2B1BB-5F6F-4C76-3BD9-27BE3DB20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07FC7A-01A7-C4F5-8A42-A9CB5CCB3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357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C6A48-D40C-CB49-840D-0F0A75CCE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22FB1B-F0BA-0BAD-E3AB-D54139888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68D343-FE98-0B7F-49C9-03A93D57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779E5F-7EE3-D469-0394-28BC5BA3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B92138-572F-8E65-DDB9-EE1C6016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790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A9210A-7540-AA25-8D49-C3498A237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A88662-1438-69FD-B747-86C07754C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21395E-7684-C680-BA5F-ACFB7669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BC7450-EC50-C152-E655-C3E72E3D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E9D2AA-D3A8-E70C-ECA4-5EA2B381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16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C4A1E4C-B006-1FCD-BF47-172C16F64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3DF4B5-A88D-6DD6-247B-F99307DA4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AD4337-28C3-7778-60D0-EA7A31900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65797-788B-4501-A64C-6D8EECF3F2B0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FE1253-F7AE-1ABE-C312-1D1A583C3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DD96F-91DC-18BA-E761-233F0AC83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9B29E-9060-4667-B072-067891B60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7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Conector reto 163">
            <a:extLst>
              <a:ext uri="{FF2B5EF4-FFF2-40B4-BE49-F238E27FC236}">
                <a16:creationId xmlns:a16="http://schemas.microsoft.com/office/drawing/2014/main" id="{1E7D57C0-F532-FEB9-4DBB-F8CD07126D2F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>
          <a:xfrm rot="5400000">
            <a:off x="4523932" y="3252849"/>
            <a:ext cx="1095445" cy="195277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Conector reto 169">
            <a:extLst>
              <a:ext uri="{FF2B5EF4-FFF2-40B4-BE49-F238E27FC236}">
                <a16:creationId xmlns:a16="http://schemas.microsoft.com/office/drawing/2014/main" id="{21255C3C-72A2-7B82-28D2-7BC69CD0E7B8}"/>
              </a:ext>
            </a:extLst>
          </p:cNvPr>
          <p:cNvCxnSpPr>
            <a:cxnSpLocks/>
            <a:stCxn id="9" idx="2"/>
            <a:endCxn id="86" idx="0"/>
          </p:cNvCxnSpPr>
          <p:nvPr/>
        </p:nvCxnSpPr>
        <p:spPr>
          <a:xfrm rot="16200000" flipH="1">
            <a:off x="7729398" y="2000158"/>
            <a:ext cx="2088105" cy="5450817"/>
          </a:xfrm>
          <a:prstGeom prst="bentConnector3">
            <a:avLst>
              <a:gd name="adj1" fmla="val 2582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Conector reto 166">
            <a:extLst>
              <a:ext uri="{FF2B5EF4-FFF2-40B4-BE49-F238E27FC236}">
                <a16:creationId xmlns:a16="http://schemas.microsoft.com/office/drawing/2014/main" id="{D1A66F9E-13CA-C90B-8B8B-B6B704C64EFD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 rot="5400000">
            <a:off x="5337305" y="4066892"/>
            <a:ext cx="1096115" cy="32536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D9F4F3D-ED75-2FA4-6895-09645570F7E9}"/>
              </a:ext>
            </a:extLst>
          </p:cNvPr>
          <p:cNvGrpSpPr/>
          <p:nvPr/>
        </p:nvGrpSpPr>
        <p:grpSpPr>
          <a:xfrm>
            <a:off x="4978591" y="3097093"/>
            <a:ext cx="2138902" cy="584422"/>
            <a:chOff x="3546282" y="646042"/>
            <a:chExt cx="2138902" cy="5844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0DA78309-A38B-C19F-432C-F9A00DEE2933}"/>
                </a:ext>
              </a:extLst>
            </p:cNvPr>
            <p:cNvSpPr/>
            <p:nvPr/>
          </p:nvSpPr>
          <p:spPr>
            <a:xfrm>
              <a:off x="3546282" y="646042"/>
              <a:ext cx="2138902" cy="58442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solidFill>
                    <a:schemeClr val="tx1"/>
                  </a:solidFill>
                </a:rPr>
                <a:t>Presidência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(Ricardo Alban)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tângulo: Cantos Diagonais Arredondados 9">
              <a:extLst>
                <a:ext uri="{FF2B5EF4-FFF2-40B4-BE49-F238E27FC236}">
                  <a16:creationId xmlns:a16="http://schemas.microsoft.com/office/drawing/2014/main" id="{C557E66A-E595-1AF7-7F97-8EF35397D110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/>
                <a:t>56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118D872C-4F10-D93A-0AC9-471E657F760C}"/>
              </a:ext>
            </a:extLst>
          </p:cNvPr>
          <p:cNvGrpSpPr/>
          <p:nvPr/>
        </p:nvGrpSpPr>
        <p:grpSpPr>
          <a:xfrm>
            <a:off x="3317156" y="4776960"/>
            <a:ext cx="1566798" cy="584422"/>
            <a:chOff x="3546282" y="646043"/>
            <a:chExt cx="1738495" cy="5844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8347A854-2635-F6E0-C6BB-238881AE32E2}"/>
                </a:ext>
              </a:extLst>
            </p:cNvPr>
            <p:cNvSpPr/>
            <p:nvPr/>
          </p:nvSpPr>
          <p:spPr>
            <a:xfrm>
              <a:off x="3546282" y="646043"/>
              <a:ext cx="1726757" cy="58442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 err="1">
                  <a:solidFill>
                    <a:schemeClr val="tx1"/>
                  </a:solidFill>
                </a:rPr>
                <a:t>Superintendên</a:t>
              </a:r>
              <a:r>
                <a:rPr lang="pt-BR" sz="1050" b="1" dirty="0">
                  <a:solidFill>
                    <a:schemeClr val="tx1"/>
                  </a:solidFill>
                </a:rPr>
                <a:t>-        </a:t>
              </a:r>
              <a:r>
                <a:rPr lang="pt-BR" sz="1050" b="1" dirty="0" err="1">
                  <a:solidFill>
                    <a:schemeClr val="tx1"/>
                  </a:solidFill>
                </a:rPr>
                <a:t>ciaGeral</a:t>
              </a:r>
              <a:r>
                <a:rPr lang="pt-BR" sz="1050" b="1" dirty="0">
                  <a:solidFill>
                    <a:schemeClr val="tx1"/>
                  </a:solidFill>
                </a:rPr>
                <a:t> do SESI-DN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800" i="1" dirty="0">
                  <a:solidFill>
                    <a:schemeClr val="tx1"/>
                  </a:solidFill>
                </a:rPr>
                <a:t>(Paulo Mol)</a:t>
              </a:r>
              <a:endParaRPr lang="pt-BR" sz="1050" i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tângulo: Cantos Diagonais Arredondados 25">
              <a:extLst>
                <a:ext uri="{FF2B5EF4-FFF2-40B4-BE49-F238E27FC236}">
                  <a16:creationId xmlns:a16="http://schemas.microsoft.com/office/drawing/2014/main" id="{DE449A23-99FB-0B85-B654-FB3AA7BA4241}"/>
                </a:ext>
              </a:extLst>
            </p:cNvPr>
            <p:cNvSpPr/>
            <p:nvPr/>
          </p:nvSpPr>
          <p:spPr>
            <a:xfrm>
              <a:off x="4787711" y="646044"/>
              <a:ext cx="497066" cy="217850"/>
            </a:xfrm>
            <a:prstGeom prst="round2DiagRect">
              <a:avLst>
                <a:gd name="adj1" fmla="val 0"/>
                <a:gd name="adj2" fmla="val 50000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/>
                <a:t>120</a:t>
              </a: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92392707-7D1B-6FC2-371D-DA3CE7B8081C}"/>
              </a:ext>
            </a:extLst>
          </p:cNvPr>
          <p:cNvGrpSpPr/>
          <p:nvPr/>
        </p:nvGrpSpPr>
        <p:grpSpPr>
          <a:xfrm>
            <a:off x="4938859" y="4777630"/>
            <a:ext cx="1567645" cy="584422"/>
            <a:chOff x="3546282" y="646043"/>
            <a:chExt cx="1726757" cy="5844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4CAC3949-1901-7DF7-2998-128A540E8936}"/>
                </a:ext>
              </a:extLst>
            </p:cNvPr>
            <p:cNvSpPr/>
            <p:nvPr/>
          </p:nvSpPr>
          <p:spPr>
            <a:xfrm>
              <a:off x="3546282" y="646043"/>
              <a:ext cx="1726757" cy="58442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Diretoria Geral </a:t>
              </a:r>
            </a:p>
            <a:p>
              <a:r>
                <a:rPr lang="pt-BR" sz="1050" b="1" dirty="0">
                  <a:solidFill>
                    <a:schemeClr val="tx1"/>
                  </a:solidFill>
                </a:rPr>
                <a:t>do SENAI-DN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800" i="1" dirty="0">
                  <a:solidFill>
                    <a:schemeClr val="tx1"/>
                  </a:solidFill>
                </a:rPr>
                <a:t>(Leone Andrade)</a:t>
              </a:r>
              <a:endParaRPr lang="pt-BR" sz="1050" i="1" dirty="0">
                <a:solidFill>
                  <a:schemeClr val="tx1"/>
                </a:solidFill>
              </a:endParaRPr>
            </a:p>
          </p:txBody>
        </p:sp>
        <p:sp>
          <p:nvSpPr>
            <p:cNvPr id="57" name="Retângulo: Cantos Diagonais Arredondados 56">
              <a:extLst>
                <a:ext uri="{FF2B5EF4-FFF2-40B4-BE49-F238E27FC236}">
                  <a16:creationId xmlns:a16="http://schemas.microsoft.com/office/drawing/2014/main" id="{74C11D9E-74ED-8BE4-663E-2FF8804D9030}"/>
                </a:ext>
              </a:extLst>
            </p:cNvPr>
            <p:cNvSpPr/>
            <p:nvPr/>
          </p:nvSpPr>
          <p:spPr>
            <a:xfrm>
              <a:off x="4805239" y="646043"/>
              <a:ext cx="46780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/>
                <a:t>169</a:t>
              </a:r>
            </a:p>
          </p:txBody>
        </p: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957F4057-C936-3136-2C28-19DC4C4CC1CC}"/>
              </a:ext>
            </a:extLst>
          </p:cNvPr>
          <p:cNvGrpSpPr/>
          <p:nvPr/>
        </p:nvGrpSpPr>
        <p:grpSpPr>
          <a:xfrm>
            <a:off x="10832618" y="5769620"/>
            <a:ext cx="1332481" cy="842157"/>
            <a:chOff x="7244411" y="325058"/>
            <a:chExt cx="1332481" cy="8421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6" name="Retângulo: Cantos Arredondados 85">
              <a:extLst>
                <a:ext uri="{FF2B5EF4-FFF2-40B4-BE49-F238E27FC236}">
                  <a16:creationId xmlns:a16="http://schemas.microsoft.com/office/drawing/2014/main" id="{DC5A5D06-1BAF-C243-B174-546B9CA087B0}"/>
                </a:ext>
              </a:extLst>
            </p:cNvPr>
            <p:cNvSpPr/>
            <p:nvPr/>
          </p:nvSpPr>
          <p:spPr>
            <a:xfrm>
              <a:off x="7244411" y="325058"/>
              <a:ext cx="1332481" cy="842157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Superintendência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do IEL/NC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800" i="1" dirty="0">
                  <a:solidFill>
                    <a:schemeClr val="tx1"/>
                  </a:solidFill>
                </a:rPr>
                <a:t>(Sarah Saldanha)</a:t>
              </a:r>
              <a:endParaRPr lang="pt-BR" sz="1050" i="1" dirty="0">
                <a:solidFill>
                  <a:schemeClr val="tx1"/>
                </a:solidFill>
              </a:endParaRPr>
            </a:p>
          </p:txBody>
        </p:sp>
        <p:sp>
          <p:nvSpPr>
            <p:cNvPr id="87" name="Retângulo: Cantos Diagonais Arredondados 86">
              <a:extLst>
                <a:ext uri="{FF2B5EF4-FFF2-40B4-BE49-F238E27FC236}">
                  <a16:creationId xmlns:a16="http://schemas.microsoft.com/office/drawing/2014/main" id="{AAE62103-0BFD-5B1B-D0BC-B4CEECD5A098}"/>
                </a:ext>
              </a:extLst>
            </p:cNvPr>
            <p:cNvSpPr/>
            <p:nvPr/>
          </p:nvSpPr>
          <p:spPr>
            <a:xfrm>
              <a:off x="8217119" y="325059"/>
              <a:ext cx="359773" cy="234669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/>
                <a:t>21</a:t>
              </a:r>
            </a:p>
          </p:txBody>
        </p:sp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A3D6B0AE-101D-1861-B6C3-104CAFB7F7A7}"/>
              </a:ext>
            </a:extLst>
          </p:cNvPr>
          <p:cNvGrpSpPr/>
          <p:nvPr/>
        </p:nvGrpSpPr>
        <p:grpSpPr>
          <a:xfrm>
            <a:off x="81747" y="4738802"/>
            <a:ext cx="1556220" cy="587977"/>
            <a:chOff x="2291412" y="642488"/>
            <a:chExt cx="1726758" cy="58797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9" name="Retângulo: Cantos Arredondados 88">
              <a:extLst>
                <a:ext uri="{FF2B5EF4-FFF2-40B4-BE49-F238E27FC236}">
                  <a16:creationId xmlns:a16="http://schemas.microsoft.com/office/drawing/2014/main" id="{100F4F02-70D8-C7C6-0715-CB8F464064D2}"/>
                </a:ext>
              </a:extLst>
            </p:cNvPr>
            <p:cNvSpPr/>
            <p:nvPr/>
          </p:nvSpPr>
          <p:spPr>
            <a:xfrm>
              <a:off x="2291412" y="646043"/>
              <a:ext cx="1726757" cy="58442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Diretoria de Desenvolvimento Industrial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800" i="1" dirty="0">
                  <a:solidFill>
                    <a:schemeClr val="tx1"/>
                  </a:solidFill>
                </a:rPr>
                <a:t>(Jefferson Gomes)</a:t>
              </a:r>
              <a:endParaRPr lang="pt-BR" sz="1050" i="1" dirty="0">
                <a:solidFill>
                  <a:schemeClr val="tx1"/>
                </a:solidFill>
              </a:endParaRPr>
            </a:p>
          </p:txBody>
        </p:sp>
        <p:sp>
          <p:nvSpPr>
            <p:cNvPr id="90" name="Retângulo: Cantos Diagonais Arredondados 89">
              <a:extLst>
                <a:ext uri="{FF2B5EF4-FFF2-40B4-BE49-F238E27FC236}">
                  <a16:creationId xmlns:a16="http://schemas.microsoft.com/office/drawing/2014/main" id="{F0CB681E-184F-BE42-367F-930B357B299D}"/>
                </a:ext>
              </a:extLst>
            </p:cNvPr>
            <p:cNvSpPr/>
            <p:nvPr/>
          </p:nvSpPr>
          <p:spPr>
            <a:xfrm>
              <a:off x="3580907" y="642488"/>
              <a:ext cx="437263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/>
                <a:t>66</a:t>
              </a:r>
            </a:p>
          </p:txBody>
        </p:sp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78B21698-1267-F252-232F-E227654AE9DF}"/>
              </a:ext>
            </a:extLst>
          </p:cNvPr>
          <p:cNvGrpSpPr/>
          <p:nvPr/>
        </p:nvGrpSpPr>
        <p:grpSpPr>
          <a:xfrm>
            <a:off x="1693810" y="4752085"/>
            <a:ext cx="1556219" cy="584422"/>
            <a:chOff x="3546282" y="646043"/>
            <a:chExt cx="1726757" cy="5844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2" name="Retângulo: Cantos Arredondados 91">
              <a:extLst>
                <a:ext uri="{FF2B5EF4-FFF2-40B4-BE49-F238E27FC236}">
                  <a16:creationId xmlns:a16="http://schemas.microsoft.com/office/drawing/2014/main" id="{CF70C55A-CDB0-8D2D-F061-F73FB56C46B4}"/>
                </a:ext>
              </a:extLst>
            </p:cNvPr>
            <p:cNvSpPr/>
            <p:nvPr/>
          </p:nvSpPr>
          <p:spPr>
            <a:xfrm>
              <a:off x="3546282" y="646043"/>
              <a:ext cx="1726757" cy="58442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Diretoria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Relações Institucionais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800" i="1" dirty="0">
                  <a:solidFill>
                    <a:schemeClr val="tx1"/>
                  </a:solidFill>
                </a:rPr>
                <a:t>(Roberto Muniz)</a:t>
              </a:r>
              <a:endParaRPr lang="pt-BR" sz="1050" i="1" dirty="0">
                <a:solidFill>
                  <a:schemeClr val="tx1"/>
                </a:solidFill>
              </a:endParaRPr>
            </a:p>
          </p:txBody>
        </p:sp>
        <p:sp>
          <p:nvSpPr>
            <p:cNvPr id="93" name="Retângulo: Cantos Diagonais Arredondados 92">
              <a:extLst>
                <a:ext uri="{FF2B5EF4-FFF2-40B4-BE49-F238E27FC236}">
                  <a16:creationId xmlns:a16="http://schemas.microsoft.com/office/drawing/2014/main" id="{3DBF691A-D519-3A84-329A-AE4045C68592}"/>
                </a:ext>
              </a:extLst>
            </p:cNvPr>
            <p:cNvSpPr/>
            <p:nvPr/>
          </p:nvSpPr>
          <p:spPr>
            <a:xfrm>
              <a:off x="4838821" y="646043"/>
              <a:ext cx="434218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/>
                <a:t>99</a:t>
              </a:r>
            </a:p>
          </p:txBody>
        </p:sp>
      </p:grp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2A8F3C37-0390-80D1-CB9A-CD1C91CA3D97}"/>
              </a:ext>
            </a:extLst>
          </p:cNvPr>
          <p:cNvGrpSpPr/>
          <p:nvPr/>
        </p:nvGrpSpPr>
        <p:grpSpPr>
          <a:xfrm>
            <a:off x="6575726" y="4771541"/>
            <a:ext cx="1556219" cy="584422"/>
            <a:chOff x="3546282" y="646043"/>
            <a:chExt cx="1726757" cy="5844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5" name="Retângulo: Cantos Arredondados 94">
              <a:extLst>
                <a:ext uri="{FF2B5EF4-FFF2-40B4-BE49-F238E27FC236}">
                  <a16:creationId xmlns:a16="http://schemas.microsoft.com/office/drawing/2014/main" id="{7A8C0C73-13AE-8C4C-2E4C-BCDDBC4F1844}"/>
                </a:ext>
              </a:extLst>
            </p:cNvPr>
            <p:cNvSpPr/>
            <p:nvPr/>
          </p:nvSpPr>
          <p:spPr>
            <a:xfrm>
              <a:off x="3546282" y="646043"/>
              <a:ext cx="1726757" cy="58442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Diretoria Jurídica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800" i="1" dirty="0">
                  <a:solidFill>
                    <a:schemeClr val="tx1"/>
                  </a:solidFill>
                </a:rPr>
                <a:t>(Alexandre Vitorino)</a:t>
              </a:r>
              <a:endParaRPr lang="pt-BR" sz="1050" i="1" dirty="0">
                <a:solidFill>
                  <a:schemeClr val="tx1"/>
                </a:solidFill>
              </a:endParaRPr>
            </a:p>
          </p:txBody>
        </p:sp>
        <p:sp>
          <p:nvSpPr>
            <p:cNvPr id="96" name="Retângulo: Cantos Diagonais Arredondados 95">
              <a:extLst>
                <a:ext uri="{FF2B5EF4-FFF2-40B4-BE49-F238E27FC236}">
                  <a16:creationId xmlns:a16="http://schemas.microsoft.com/office/drawing/2014/main" id="{6D35B0CC-301F-763E-E1DC-602D30E6A279}"/>
                </a:ext>
              </a:extLst>
            </p:cNvPr>
            <p:cNvSpPr/>
            <p:nvPr/>
          </p:nvSpPr>
          <p:spPr>
            <a:xfrm>
              <a:off x="4805239" y="646043"/>
              <a:ext cx="46780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/>
                <a:t>52</a:t>
              </a:r>
            </a:p>
          </p:txBody>
        </p:sp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54335EDA-0A44-3B16-B434-35F24B1C6D73}"/>
              </a:ext>
            </a:extLst>
          </p:cNvPr>
          <p:cNvGrpSpPr/>
          <p:nvPr/>
        </p:nvGrpSpPr>
        <p:grpSpPr>
          <a:xfrm>
            <a:off x="8198861" y="4771541"/>
            <a:ext cx="1556219" cy="584422"/>
            <a:chOff x="3546282" y="646043"/>
            <a:chExt cx="1726757" cy="5844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8" name="Retângulo: Cantos Arredondados 97">
              <a:extLst>
                <a:ext uri="{FF2B5EF4-FFF2-40B4-BE49-F238E27FC236}">
                  <a16:creationId xmlns:a16="http://schemas.microsoft.com/office/drawing/2014/main" id="{99510CA3-7B65-9C25-199A-5B275FC656F5}"/>
                </a:ext>
              </a:extLst>
            </p:cNvPr>
            <p:cNvSpPr/>
            <p:nvPr/>
          </p:nvSpPr>
          <p:spPr>
            <a:xfrm>
              <a:off x="3546282" y="646043"/>
              <a:ext cx="1726757" cy="58442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Diretoria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Corporativa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800" i="1" dirty="0">
                  <a:solidFill>
                    <a:schemeClr val="tx1"/>
                  </a:solidFill>
                </a:rPr>
                <a:t>(Cid Vianna)</a:t>
              </a:r>
              <a:endParaRPr lang="pt-BR" sz="1050" i="1" dirty="0">
                <a:solidFill>
                  <a:schemeClr val="tx1"/>
                </a:solidFill>
              </a:endParaRPr>
            </a:p>
          </p:txBody>
        </p:sp>
        <p:sp>
          <p:nvSpPr>
            <p:cNvPr id="99" name="Retângulo: Cantos Diagonais Arredondados 98">
              <a:extLst>
                <a:ext uri="{FF2B5EF4-FFF2-40B4-BE49-F238E27FC236}">
                  <a16:creationId xmlns:a16="http://schemas.microsoft.com/office/drawing/2014/main" id="{FAA5EFD7-5B41-3931-51CD-09B8AE869158}"/>
                </a:ext>
              </a:extLst>
            </p:cNvPr>
            <p:cNvSpPr/>
            <p:nvPr/>
          </p:nvSpPr>
          <p:spPr>
            <a:xfrm>
              <a:off x="4805239" y="646043"/>
              <a:ext cx="46780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/>
                <a:t>232</a:t>
              </a:r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BFE45D39-D6AB-3B2B-E75A-F52E9E9D00FB}"/>
              </a:ext>
            </a:extLst>
          </p:cNvPr>
          <p:cNvGrpSpPr/>
          <p:nvPr/>
        </p:nvGrpSpPr>
        <p:grpSpPr>
          <a:xfrm>
            <a:off x="9821994" y="4772981"/>
            <a:ext cx="1556219" cy="584422"/>
            <a:chOff x="3546282" y="646043"/>
            <a:chExt cx="1726757" cy="584422"/>
          </a:xfrm>
        </p:grpSpPr>
        <p:sp>
          <p:nvSpPr>
            <p:cNvPr id="101" name="Retângulo: Cantos Arredondados 100">
              <a:extLst>
                <a:ext uri="{FF2B5EF4-FFF2-40B4-BE49-F238E27FC236}">
                  <a16:creationId xmlns:a16="http://schemas.microsoft.com/office/drawing/2014/main" id="{3FCB02F7-24CF-9082-0178-EFFF5FB73AA6}"/>
                </a:ext>
              </a:extLst>
            </p:cNvPr>
            <p:cNvSpPr/>
            <p:nvPr/>
          </p:nvSpPr>
          <p:spPr>
            <a:xfrm>
              <a:off x="3546282" y="646043"/>
              <a:ext cx="1726757" cy="58442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Diretoria de Comunicação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800" i="1" dirty="0">
                  <a:solidFill>
                    <a:schemeClr val="tx1"/>
                  </a:solidFill>
                </a:rPr>
                <a:t>(André Curvelo)</a:t>
              </a:r>
              <a:endParaRPr lang="pt-BR" sz="1050" i="1" dirty="0">
                <a:solidFill>
                  <a:schemeClr val="tx1"/>
                </a:solidFill>
              </a:endParaRPr>
            </a:p>
          </p:txBody>
        </p:sp>
        <p:sp>
          <p:nvSpPr>
            <p:cNvPr id="102" name="Retângulo: Cantos Diagonais Arredondados 101">
              <a:extLst>
                <a:ext uri="{FF2B5EF4-FFF2-40B4-BE49-F238E27FC236}">
                  <a16:creationId xmlns:a16="http://schemas.microsoft.com/office/drawing/2014/main" id="{05307604-C106-D91B-B1EC-9FFA142A95A0}"/>
                </a:ext>
              </a:extLst>
            </p:cNvPr>
            <p:cNvSpPr/>
            <p:nvPr/>
          </p:nvSpPr>
          <p:spPr>
            <a:xfrm>
              <a:off x="4805239" y="646043"/>
              <a:ext cx="46780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/>
                <a:t>91</a:t>
              </a:r>
            </a:p>
          </p:txBody>
        </p:sp>
      </p:grp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644D7422-82DD-A28C-AE21-CD2DF900C509}"/>
              </a:ext>
            </a:extLst>
          </p:cNvPr>
          <p:cNvSpPr/>
          <p:nvPr/>
        </p:nvSpPr>
        <p:spPr>
          <a:xfrm>
            <a:off x="7656676" y="3532369"/>
            <a:ext cx="1726757" cy="584422"/>
          </a:xfrm>
          <a:prstGeom prst="roundRect">
            <a:avLst>
              <a:gd name="adj" fmla="val 9109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50" b="1" dirty="0">
                <a:solidFill>
                  <a:schemeClr val="tx1"/>
                </a:solidFill>
              </a:rPr>
              <a:t>Diretoria </a:t>
            </a:r>
            <a:br>
              <a:rPr lang="pt-BR" sz="1050" b="1" dirty="0">
                <a:solidFill>
                  <a:schemeClr val="tx1"/>
                </a:solidFill>
              </a:rPr>
            </a:br>
            <a:r>
              <a:rPr lang="pt-BR" sz="1050" b="1" dirty="0">
                <a:solidFill>
                  <a:schemeClr val="tx1"/>
                </a:solidFill>
              </a:rPr>
              <a:t>de Governança </a:t>
            </a:r>
            <a:br>
              <a:rPr lang="pt-BR" sz="1050" b="1" dirty="0">
                <a:solidFill>
                  <a:schemeClr val="tx1"/>
                </a:solidFill>
              </a:rPr>
            </a:br>
            <a:r>
              <a:rPr lang="pt-BR" sz="1050" b="1" dirty="0">
                <a:solidFill>
                  <a:schemeClr val="tx1"/>
                </a:solidFill>
              </a:rPr>
              <a:t>Interna e Externa</a:t>
            </a:r>
            <a:br>
              <a:rPr lang="pt-BR" sz="1050" b="1" dirty="0">
                <a:solidFill>
                  <a:schemeClr val="tx1"/>
                </a:solidFill>
              </a:rPr>
            </a:br>
            <a:r>
              <a:rPr lang="pt-BR" sz="800" i="1" dirty="0">
                <a:solidFill>
                  <a:schemeClr val="tx1"/>
                </a:solidFill>
              </a:rPr>
              <a:t>(Danusa Amorim)</a:t>
            </a:r>
            <a:endParaRPr lang="pt-BR" sz="1050" i="1" dirty="0">
              <a:solidFill>
                <a:schemeClr val="tx1"/>
              </a:solidFill>
            </a:endParaRPr>
          </a:p>
        </p:txBody>
      </p:sp>
      <p:cxnSp>
        <p:nvCxnSpPr>
          <p:cNvPr id="146" name="Conector reto 145">
            <a:extLst>
              <a:ext uri="{FF2B5EF4-FFF2-40B4-BE49-F238E27FC236}">
                <a16:creationId xmlns:a16="http://schemas.microsoft.com/office/drawing/2014/main" id="{91C553A1-EEBB-1AEF-B2E3-22C4F9E9501C}"/>
              </a:ext>
            </a:extLst>
          </p:cNvPr>
          <p:cNvCxnSpPr>
            <a:cxnSpLocks/>
            <a:stCxn id="9" idx="2"/>
            <a:endCxn id="98" idx="0"/>
          </p:cNvCxnSpPr>
          <p:nvPr/>
        </p:nvCxnSpPr>
        <p:spPr>
          <a:xfrm rot="16200000" flipH="1">
            <a:off x="6967493" y="2762063"/>
            <a:ext cx="1090026" cy="292892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Conector reto 149">
            <a:extLst>
              <a:ext uri="{FF2B5EF4-FFF2-40B4-BE49-F238E27FC236}">
                <a16:creationId xmlns:a16="http://schemas.microsoft.com/office/drawing/2014/main" id="{955FC3F8-8216-8988-71A2-592A20C9E71F}"/>
              </a:ext>
            </a:extLst>
          </p:cNvPr>
          <p:cNvCxnSpPr>
            <a:cxnSpLocks/>
            <a:stCxn id="9" idx="2"/>
            <a:endCxn id="101" idx="0"/>
          </p:cNvCxnSpPr>
          <p:nvPr/>
        </p:nvCxnSpPr>
        <p:spPr>
          <a:xfrm rot="16200000" flipH="1">
            <a:off x="7778340" y="1951217"/>
            <a:ext cx="1091466" cy="455206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ector reto 149">
            <a:extLst>
              <a:ext uri="{FF2B5EF4-FFF2-40B4-BE49-F238E27FC236}">
                <a16:creationId xmlns:a16="http://schemas.microsoft.com/office/drawing/2014/main" id="{E2AAE485-CAA3-CEB5-3548-D3A9CC22BE1A}"/>
              </a:ext>
            </a:extLst>
          </p:cNvPr>
          <p:cNvCxnSpPr>
            <a:cxnSpLocks/>
            <a:stCxn id="9" idx="2"/>
            <a:endCxn id="92" idx="0"/>
          </p:cNvCxnSpPr>
          <p:nvPr/>
        </p:nvCxnSpPr>
        <p:spPr>
          <a:xfrm rot="5400000">
            <a:off x="3724696" y="2428739"/>
            <a:ext cx="1070570" cy="357612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Conector reto 149">
            <a:extLst>
              <a:ext uri="{FF2B5EF4-FFF2-40B4-BE49-F238E27FC236}">
                <a16:creationId xmlns:a16="http://schemas.microsoft.com/office/drawing/2014/main" id="{9628A313-D5FC-345E-88B8-93D77DE84289}"/>
              </a:ext>
            </a:extLst>
          </p:cNvPr>
          <p:cNvCxnSpPr>
            <a:cxnSpLocks/>
            <a:stCxn id="9" idx="2"/>
            <a:endCxn id="89" idx="0"/>
          </p:cNvCxnSpPr>
          <p:nvPr/>
        </p:nvCxnSpPr>
        <p:spPr>
          <a:xfrm rot="5400000">
            <a:off x="2923529" y="1617844"/>
            <a:ext cx="1060842" cy="518818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5" name="Agrupar 174">
            <a:extLst>
              <a:ext uri="{FF2B5EF4-FFF2-40B4-BE49-F238E27FC236}">
                <a16:creationId xmlns:a16="http://schemas.microsoft.com/office/drawing/2014/main" id="{B22EABD3-58F6-162B-A512-8DFC24925738}"/>
              </a:ext>
            </a:extLst>
          </p:cNvPr>
          <p:cNvGrpSpPr/>
          <p:nvPr/>
        </p:nvGrpSpPr>
        <p:grpSpPr>
          <a:xfrm>
            <a:off x="2461341" y="3121968"/>
            <a:ext cx="1726757" cy="584422"/>
            <a:chOff x="3546282" y="646043"/>
            <a:chExt cx="1726757" cy="584422"/>
          </a:xfrm>
        </p:grpSpPr>
        <p:sp>
          <p:nvSpPr>
            <p:cNvPr id="176" name="Retângulo: Cantos Arredondados 175">
              <a:extLst>
                <a:ext uri="{FF2B5EF4-FFF2-40B4-BE49-F238E27FC236}">
                  <a16:creationId xmlns:a16="http://schemas.microsoft.com/office/drawing/2014/main" id="{A74FC4DD-5663-3AEF-D5BF-47039B022198}"/>
                </a:ext>
              </a:extLst>
            </p:cNvPr>
            <p:cNvSpPr/>
            <p:nvPr/>
          </p:nvSpPr>
          <p:spPr>
            <a:xfrm>
              <a:off x="3546282" y="646043"/>
              <a:ext cx="1726757" cy="58442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Superintendência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de Compliance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 Integridade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800" i="1" dirty="0">
                  <a:solidFill>
                    <a:schemeClr val="tx1"/>
                  </a:solidFill>
                </a:rPr>
                <a:t>(Cid Vianna)</a:t>
              </a:r>
              <a:endParaRPr lang="pt-BR" sz="1050" i="1" dirty="0">
                <a:solidFill>
                  <a:schemeClr val="tx1"/>
                </a:solidFill>
              </a:endParaRPr>
            </a:p>
          </p:txBody>
        </p:sp>
        <p:sp>
          <p:nvSpPr>
            <p:cNvPr id="177" name="Retângulo: Cantos Diagonais Arredondados 176">
              <a:extLst>
                <a:ext uri="{FF2B5EF4-FFF2-40B4-BE49-F238E27FC236}">
                  <a16:creationId xmlns:a16="http://schemas.microsoft.com/office/drawing/2014/main" id="{163E87DD-048D-DD4A-FD47-1D7DBDEDBB29}"/>
                </a:ext>
              </a:extLst>
            </p:cNvPr>
            <p:cNvSpPr/>
            <p:nvPr/>
          </p:nvSpPr>
          <p:spPr>
            <a:xfrm>
              <a:off x="4805239" y="646043"/>
              <a:ext cx="46780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/>
                <a:t>25</a:t>
              </a:r>
            </a:p>
          </p:txBody>
        </p:sp>
      </p:grpSp>
      <p:cxnSp>
        <p:nvCxnSpPr>
          <p:cNvPr id="178" name="Conector reto 177">
            <a:extLst>
              <a:ext uri="{FF2B5EF4-FFF2-40B4-BE49-F238E27FC236}">
                <a16:creationId xmlns:a16="http://schemas.microsoft.com/office/drawing/2014/main" id="{BCDCB852-DAFC-74CA-266D-9FB3291AFA7B}"/>
              </a:ext>
            </a:extLst>
          </p:cNvPr>
          <p:cNvCxnSpPr>
            <a:cxnSpLocks/>
            <a:stCxn id="3" idx="2"/>
            <a:endCxn id="176" idx="0"/>
          </p:cNvCxnSpPr>
          <p:nvPr/>
        </p:nvCxnSpPr>
        <p:spPr>
          <a:xfrm rot="5400000">
            <a:off x="4408733" y="1482658"/>
            <a:ext cx="555297" cy="2723322"/>
          </a:xfrm>
          <a:prstGeom prst="bentConnector3">
            <a:avLst>
              <a:gd name="adj1" fmla="val 50000"/>
            </a:avLst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E5F4AD81-151D-D666-4DB8-B598E7984B0D}"/>
              </a:ext>
            </a:extLst>
          </p:cNvPr>
          <p:cNvSpPr txBox="1"/>
          <p:nvPr/>
        </p:nvSpPr>
        <p:spPr>
          <a:xfrm>
            <a:off x="90941" y="34939"/>
            <a:ext cx="6784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Macroestrutura Corporativa Atual</a:t>
            </a:r>
          </a:p>
        </p:txBody>
      </p: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A06891A9-4B49-0E83-5D18-FF6761B20627}"/>
              </a:ext>
            </a:extLst>
          </p:cNvPr>
          <p:cNvSpPr txBox="1"/>
          <p:nvPr/>
        </p:nvSpPr>
        <p:spPr>
          <a:xfrm>
            <a:off x="11120398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09CFDDF-51FB-BF76-DC61-F8AEA9FE1DF4}"/>
              </a:ext>
            </a:extLst>
          </p:cNvPr>
          <p:cNvSpPr/>
          <p:nvPr/>
        </p:nvSpPr>
        <p:spPr>
          <a:xfrm>
            <a:off x="4978591" y="1938595"/>
            <a:ext cx="2138902" cy="628076"/>
          </a:xfrm>
          <a:prstGeom prst="roundRect">
            <a:avLst>
              <a:gd name="adj" fmla="val 9109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1"/>
                </a:solidFill>
              </a:rPr>
              <a:t>Diretoria da CNI</a:t>
            </a:r>
            <a:endParaRPr lang="pt-BR" sz="1600" i="1" dirty="0">
              <a:solidFill>
                <a:schemeClr val="tx1"/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E4005B7-8569-4325-235F-5FE84B9CAF81}"/>
              </a:ext>
            </a:extLst>
          </p:cNvPr>
          <p:cNvSpPr/>
          <p:nvPr/>
        </p:nvSpPr>
        <p:spPr>
          <a:xfrm>
            <a:off x="4978591" y="918626"/>
            <a:ext cx="2138902" cy="721581"/>
          </a:xfrm>
          <a:prstGeom prst="roundRect">
            <a:avLst>
              <a:gd name="adj" fmla="val 9109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1"/>
                </a:solidFill>
              </a:rPr>
              <a:t>Conselho de Representantes</a:t>
            </a:r>
            <a:endParaRPr lang="pt-BR" sz="1600" i="1" dirty="0">
              <a:solidFill>
                <a:schemeClr val="tx1"/>
              </a:solidFill>
            </a:endParaRPr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D347EFD6-ED12-3F30-B2FB-A251ADE8E33A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>
            <a:off x="6048042" y="1640207"/>
            <a:ext cx="0" cy="2983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A510555B-D340-A015-9C3C-ABCAE36F038C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>
            <a:off x="6048042" y="2566671"/>
            <a:ext cx="0" cy="5304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tângulo: Cantos Diagonais Arredondados 65">
            <a:extLst>
              <a:ext uri="{FF2B5EF4-FFF2-40B4-BE49-F238E27FC236}">
                <a16:creationId xmlns:a16="http://schemas.microsoft.com/office/drawing/2014/main" id="{9E654A25-17A2-6D82-C448-D7B55D7809B4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931</a:t>
            </a:r>
            <a:endParaRPr lang="pt-BR" sz="3200" b="1" dirty="0"/>
          </a:p>
        </p:txBody>
      </p:sp>
      <p:cxnSp>
        <p:nvCxnSpPr>
          <p:cNvPr id="5" name="Conector reto 177">
            <a:extLst>
              <a:ext uri="{FF2B5EF4-FFF2-40B4-BE49-F238E27FC236}">
                <a16:creationId xmlns:a16="http://schemas.microsoft.com/office/drawing/2014/main" id="{8F94A872-1659-AE3A-184D-86BA8A30AEBF}"/>
              </a:ext>
            </a:extLst>
          </p:cNvPr>
          <p:cNvCxnSpPr>
            <a:cxnSpLocks/>
            <a:stCxn id="104" idx="1"/>
            <a:endCxn id="9" idx="2"/>
          </p:cNvCxnSpPr>
          <p:nvPr/>
        </p:nvCxnSpPr>
        <p:spPr>
          <a:xfrm rot="10800000">
            <a:off x="6048042" y="3681516"/>
            <a:ext cx="1608634" cy="143065"/>
          </a:xfrm>
          <a:prstGeom prst="bentConnector2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83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D2325-3B92-E9FB-F7BF-BF7CDBC6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9F0C73B1-938E-59C6-FF29-0F547312178A}"/>
              </a:ext>
            </a:extLst>
          </p:cNvPr>
          <p:cNvSpPr txBox="1"/>
          <p:nvPr/>
        </p:nvSpPr>
        <p:spPr>
          <a:xfrm>
            <a:off x="90941" y="34939"/>
            <a:ext cx="83601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Diretoria de Governança Interna e Externa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ABD86793-4DAB-879C-5183-01D2443EBD29}"/>
              </a:ext>
            </a:extLst>
          </p:cNvPr>
          <p:cNvGrpSpPr/>
          <p:nvPr/>
        </p:nvGrpSpPr>
        <p:grpSpPr>
          <a:xfrm>
            <a:off x="211920" y="4471735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87DA9222-E1A1-409E-3900-5141A75D1F27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 Secretaria Institucional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(Debora Carvalho)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tângulo: Cantos Diagonais Arredondados 6">
              <a:extLst>
                <a:ext uri="{FF2B5EF4-FFF2-40B4-BE49-F238E27FC236}">
                  <a16:creationId xmlns:a16="http://schemas.microsoft.com/office/drawing/2014/main" id="{FC3539B6-981C-15EC-98BB-7E1B2BBF7C37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13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B10163C-69A6-F1BD-E0F7-36DC27848E6F}"/>
              </a:ext>
            </a:extLst>
          </p:cNvPr>
          <p:cNvGrpSpPr/>
          <p:nvPr/>
        </p:nvGrpSpPr>
        <p:grpSpPr>
          <a:xfrm>
            <a:off x="3414626" y="451153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44494B4D-F694-31C7-EF58-F2BEA6396EA7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 Relações Públicas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(Vitor Teixeira)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tângulo: Cantos Diagonais Arredondados 18">
              <a:extLst>
                <a:ext uri="{FF2B5EF4-FFF2-40B4-BE49-F238E27FC236}">
                  <a16:creationId xmlns:a16="http://schemas.microsoft.com/office/drawing/2014/main" id="{815B17D4-D333-8DA0-5275-7B083448889B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12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A132333-AFE9-2334-73DC-4927D49FF2AE}"/>
              </a:ext>
            </a:extLst>
          </p:cNvPr>
          <p:cNvGrpSpPr/>
          <p:nvPr/>
        </p:nvGrpSpPr>
        <p:grpSpPr>
          <a:xfrm>
            <a:off x="6621096" y="4471735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FCC34AF-B96D-4979-63D9-E26D1FEDAB45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 Comércio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e Integração Internacional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(Constanza </a:t>
              </a:r>
              <a:r>
                <a:rPr lang="pt-BR" sz="1050" i="1" dirty="0" err="1">
                  <a:solidFill>
                    <a:schemeClr val="tx1"/>
                  </a:solidFill>
                </a:rPr>
                <a:t>Biasutti</a:t>
              </a:r>
              <a:r>
                <a:rPr lang="pt-BR" sz="1050" i="1" dirty="0">
                  <a:solidFill>
                    <a:schemeClr val="tx1"/>
                  </a:solidFill>
                </a:rPr>
                <a:t>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tângulo: Cantos Diagonais Arredondados 21">
              <a:extLst>
                <a:ext uri="{FF2B5EF4-FFF2-40B4-BE49-F238E27FC236}">
                  <a16:creationId xmlns:a16="http://schemas.microsoft.com/office/drawing/2014/main" id="{D4416326-610C-C993-7E3D-BFA2A78C5E95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21</a:t>
              </a:r>
            </a:p>
          </p:txBody>
        </p:sp>
      </p:grp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4D39AC13-3931-25AA-12C2-2BEABDB7158F}"/>
              </a:ext>
            </a:extLst>
          </p:cNvPr>
          <p:cNvCxnSpPr>
            <a:cxnSpLocks/>
            <a:stCxn id="40" idx="2"/>
            <a:endCxn id="18" idx="0"/>
          </p:cNvCxnSpPr>
          <p:nvPr/>
        </p:nvCxnSpPr>
        <p:spPr>
          <a:xfrm rot="5400000">
            <a:off x="4743702" y="3169376"/>
            <a:ext cx="1082539" cy="160178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23E756FA-37A7-A413-93FE-180CFF5418CF}"/>
              </a:ext>
            </a:extLst>
          </p:cNvPr>
          <p:cNvCxnSpPr>
            <a:cxnSpLocks/>
            <a:stCxn id="40" idx="2"/>
            <a:endCxn id="21" idx="0"/>
          </p:cNvCxnSpPr>
          <p:nvPr/>
        </p:nvCxnSpPr>
        <p:spPr>
          <a:xfrm rot="16200000" flipH="1">
            <a:off x="6366838" y="3148025"/>
            <a:ext cx="1042735" cy="160468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9E089AA-FC40-159F-7D87-D184DF672A80}"/>
              </a:ext>
            </a:extLst>
          </p:cNvPr>
          <p:cNvCxnSpPr>
            <a:cxnSpLocks/>
            <a:stCxn id="40" idx="2"/>
            <a:endCxn id="6" idx="0"/>
          </p:cNvCxnSpPr>
          <p:nvPr/>
        </p:nvCxnSpPr>
        <p:spPr>
          <a:xfrm rot="5400000">
            <a:off x="3162251" y="1548121"/>
            <a:ext cx="1042735" cy="480449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5E5A613D-EBAE-DAB7-3FBE-AA4B8C926634}"/>
              </a:ext>
            </a:extLst>
          </p:cNvPr>
          <p:cNvSpPr/>
          <p:nvPr/>
        </p:nvSpPr>
        <p:spPr>
          <a:xfrm>
            <a:off x="4969407" y="958961"/>
            <a:ext cx="2232914" cy="1066515"/>
          </a:xfrm>
          <a:prstGeom prst="roundRect">
            <a:avLst>
              <a:gd name="adj" fmla="val 9109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Presidência</a:t>
            </a:r>
            <a:br>
              <a:rPr lang="pt-BR" sz="1600" b="1" dirty="0">
                <a:solidFill>
                  <a:schemeClr val="tx1"/>
                </a:solidFill>
              </a:rPr>
            </a:br>
            <a:r>
              <a:rPr lang="pt-BR" sz="1050" i="1" dirty="0">
                <a:solidFill>
                  <a:schemeClr val="tx1"/>
                </a:solidFill>
              </a:rPr>
              <a:t>(Ricardo Alban)</a:t>
            </a:r>
            <a:endParaRPr lang="pt-BR" sz="1600" i="1" dirty="0">
              <a:solidFill>
                <a:schemeClr val="tx1"/>
              </a:solidFill>
            </a:endParaRPr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96E68BF8-CD5F-A072-7CCF-9B1182EFEFB5}"/>
              </a:ext>
            </a:extLst>
          </p:cNvPr>
          <p:cNvGrpSpPr/>
          <p:nvPr/>
        </p:nvGrpSpPr>
        <p:grpSpPr>
          <a:xfrm>
            <a:off x="4969407" y="2560704"/>
            <a:ext cx="2232914" cy="868296"/>
            <a:chOff x="3546282" y="646042"/>
            <a:chExt cx="2138902" cy="86829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178D873A-51F4-ADF1-B1E7-8F3C18A76DD2}"/>
                </a:ext>
              </a:extLst>
            </p:cNvPr>
            <p:cNvSpPr/>
            <p:nvPr/>
          </p:nvSpPr>
          <p:spPr>
            <a:xfrm>
              <a:off x="3546282" y="646042"/>
              <a:ext cx="2138902" cy="868296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b="1" dirty="0">
                  <a:solidFill>
                    <a:schemeClr val="tx1"/>
                  </a:solidFill>
                </a:rPr>
                <a:t>Diretoria de</a:t>
              </a:r>
              <a:br>
                <a:rPr lang="pt-BR" sz="1400" b="1" dirty="0">
                  <a:solidFill>
                    <a:schemeClr val="tx1"/>
                  </a:solidFill>
                </a:rPr>
              </a:br>
              <a:r>
                <a:rPr lang="pt-BR" sz="1400" b="1" dirty="0">
                  <a:solidFill>
                    <a:schemeClr val="tx1"/>
                  </a:solidFill>
                </a:rPr>
                <a:t>Governança Interna e Externa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(Danusa Amorim)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1" name="Retângulo: Cantos Diagonais Arredondados 40">
              <a:extLst>
                <a:ext uri="{FF2B5EF4-FFF2-40B4-BE49-F238E27FC236}">
                  <a16:creationId xmlns:a16="http://schemas.microsoft.com/office/drawing/2014/main" id="{53E6B5FC-3533-DD6C-0C63-690F0A3428F0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10</a:t>
              </a:r>
            </a:p>
          </p:txBody>
        </p:sp>
      </p:grpSp>
      <p:cxnSp>
        <p:nvCxnSpPr>
          <p:cNvPr id="45" name="Conector reto 26">
            <a:extLst>
              <a:ext uri="{FF2B5EF4-FFF2-40B4-BE49-F238E27FC236}">
                <a16:creationId xmlns:a16="http://schemas.microsoft.com/office/drawing/2014/main" id="{49C7DB9A-BF76-2D4F-157A-C18523AE094F}"/>
              </a:ext>
            </a:extLst>
          </p:cNvPr>
          <p:cNvCxnSpPr>
            <a:cxnSpLocks/>
            <a:stCxn id="37" idx="2"/>
            <a:endCxn id="40" idx="0"/>
          </p:cNvCxnSpPr>
          <p:nvPr/>
        </p:nvCxnSpPr>
        <p:spPr>
          <a:xfrm>
            <a:off x="6085864" y="2025476"/>
            <a:ext cx="0" cy="535228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FEC39B-C841-5848-69BF-B9AE68481BD7}"/>
              </a:ext>
            </a:extLst>
          </p:cNvPr>
          <p:cNvSpPr txBox="1"/>
          <p:nvPr/>
        </p:nvSpPr>
        <p:spPr>
          <a:xfrm>
            <a:off x="11120398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sp>
        <p:nvSpPr>
          <p:cNvPr id="8" name="Retângulo: Cantos Diagonais Arredondados 7">
            <a:extLst>
              <a:ext uri="{FF2B5EF4-FFF2-40B4-BE49-F238E27FC236}">
                <a16:creationId xmlns:a16="http://schemas.microsoft.com/office/drawing/2014/main" id="{E99C297C-B87F-77C3-48B1-C91FE7005B2B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56</a:t>
            </a:r>
            <a:endParaRPr lang="pt-BR" sz="3200" b="1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D011B67-65D1-4DF3-8EAC-1260B0246BF2}"/>
              </a:ext>
            </a:extLst>
          </p:cNvPr>
          <p:cNvSpPr/>
          <p:nvPr/>
        </p:nvSpPr>
        <p:spPr>
          <a:xfrm>
            <a:off x="9529518" y="4471734"/>
            <a:ext cx="2138902" cy="721581"/>
          </a:xfrm>
          <a:prstGeom prst="roundRect">
            <a:avLst>
              <a:gd name="adj" fmla="val 9109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tx1"/>
                </a:solidFill>
              </a:rPr>
              <a:t>Iniciativa MEI</a:t>
            </a:r>
            <a:br>
              <a:rPr lang="pt-BR" sz="1200" b="1" dirty="0">
                <a:solidFill>
                  <a:schemeClr val="tx1"/>
                </a:solidFill>
              </a:rPr>
            </a:br>
            <a:r>
              <a:rPr lang="pt-BR" sz="1050" i="1" dirty="0">
                <a:solidFill>
                  <a:schemeClr val="tx1"/>
                </a:solidFill>
              </a:rPr>
              <a:t>(Mobilização Empresarial pela Inovação)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371EB5C-223C-C663-7BC0-13921B618BAE}"/>
              </a:ext>
            </a:extLst>
          </p:cNvPr>
          <p:cNvCxnSpPr>
            <a:stCxn id="40" idx="2"/>
            <a:endCxn id="10" idx="0"/>
          </p:cNvCxnSpPr>
          <p:nvPr/>
        </p:nvCxnSpPr>
        <p:spPr>
          <a:xfrm rot="16200000" flipH="1">
            <a:off x="7821049" y="1693814"/>
            <a:ext cx="1042734" cy="4513105"/>
          </a:xfrm>
          <a:prstGeom prst="bentConnector3">
            <a:avLst>
              <a:gd name="adj1" fmla="val 24423"/>
            </a:avLst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54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6EAD1-5498-E464-C951-FBEAE5D73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2BF20D5-7724-56FD-3F51-61D12A5284CD}"/>
              </a:ext>
            </a:extLst>
          </p:cNvPr>
          <p:cNvGrpSpPr/>
          <p:nvPr/>
        </p:nvGrpSpPr>
        <p:grpSpPr>
          <a:xfrm>
            <a:off x="4903176" y="1346747"/>
            <a:ext cx="2232914" cy="953392"/>
            <a:chOff x="3546282" y="646042"/>
            <a:chExt cx="2138902" cy="9533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B1F9A12B-2ED3-CE6A-FE38-9F46DE600C08}"/>
                </a:ext>
              </a:extLst>
            </p:cNvPr>
            <p:cNvSpPr/>
            <p:nvPr/>
          </p:nvSpPr>
          <p:spPr>
            <a:xfrm>
              <a:off x="3546282" y="646042"/>
              <a:ext cx="2138902" cy="95339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solidFill>
                    <a:schemeClr val="tx1"/>
                  </a:solidFill>
                </a:rPr>
                <a:t>Diretoria Jurídica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(Alexandre Vitorino)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tângulo: Cantos Diagonais Arredondados 9">
              <a:extLst>
                <a:ext uri="{FF2B5EF4-FFF2-40B4-BE49-F238E27FC236}">
                  <a16:creationId xmlns:a16="http://schemas.microsoft.com/office/drawing/2014/main" id="{493B5FC9-2EE3-10A9-1D0A-CDF822FE24C7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4</a:t>
              </a:r>
            </a:p>
          </p:txBody>
        </p:sp>
      </p:grp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36D7FA35-14DD-CBDF-7351-87480C99C5C5}"/>
              </a:ext>
            </a:extLst>
          </p:cNvPr>
          <p:cNvSpPr txBox="1"/>
          <p:nvPr/>
        </p:nvSpPr>
        <p:spPr>
          <a:xfrm>
            <a:off x="90941" y="34939"/>
            <a:ext cx="3477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Diretoria Jurídica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FAFD55E9-5CF9-B60A-04CD-2677921FF8D3}"/>
              </a:ext>
            </a:extLst>
          </p:cNvPr>
          <p:cNvGrpSpPr/>
          <p:nvPr/>
        </p:nvGrpSpPr>
        <p:grpSpPr>
          <a:xfrm>
            <a:off x="1745594" y="2652779"/>
            <a:ext cx="8560956" cy="1034418"/>
            <a:chOff x="3546282" y="333205"/>
            <a:chExt cx="8560956" cy="10344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1E70FAC6-A6CF-FA75-AFAB-AF3D50139624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Contencioso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(Fabiano Lima Pereira)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tângulo: Cantos Diagonais Arredondados 6">
              <a:extLst>
                <a:ext uri="{FF2B5EF4-FFF2-40B4-BE49-F238E27FC236}">
                  <a16:creationId xmlns:a16="http://schemas.microsoft.com/office/drawing/2014/main" id="{4A8F9D56-1A3C-0781-02E9-C574E3F373AE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</a:t>
              </a:r>
            </a:p>
          </p:txBody>
        </p:sp>
        <p:sp>
          <p:nvSpPr>
            <p:cNvPr id="23" name="Retângulo: Cantos Diagonais Arredondados 22">
              <a:extLst>
                <a:ext uri="{FF2B5EF4-FFF2-40B4-BE49-F238E27FC236}">
                  <a16:creationId xmlns:a16="http://schemas.microsoft.com/office/drawing/2014/main" id="{6EB78C7F-0B0F-F50E-AE88-7573CA79B74C}"/>
                </a:ext>
              </a:extLst>
            </p:cNvPr>
            <p:cNvSpPr/>
            <p:nvPr/>
          </p:nvSpPr>
          <p:spPr>
            <a:xfrm>
              <a:off x="5200154" y="333205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chemeClr val="accent6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21</a:t>
              </a:r>
            </a:p>
          </p:txBody>
        </p:sp>
        <p:sp>
          <p:nvSpPr>
            <p:cNvPr id="25" name="Retângulo: Cantos Diagonais Arredondados 24">
              <a:extLst>
                <a:ext uri="{FF2B5EF4-FFF2-40B4-BE49-F238E27FC236}">
                  <a16:creationId xmlns:a16="http://schemas.microsoft.com/office/drawing/2014/main" id="{F12AA147-5AE6-CA08-1BC6-42E9AF4A65B6}"/>
                </a:ext>
              </a:extLst>
            </p:cNvPr>
            <p:cNvSpPr/>
            <p:nvPr/>
          </p:nvSpPr>
          <p:spPr>
            <a:xfrm>
              <a:off x="8375223" y="373500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chemeClr val="accent6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14</a:t>
              </a:r>
            </a:p>
          </p:txBody>
        </p:sp>
        <p:sp>
          <p:nvSpPr>
            <p:cNvPr id="36" name="Retângulo: Cantos Diagonais Arredondados 35">
              <a:extLst>
                <a:ext uri="{FF2B5EF4-FFF2-40B4-BE49-F238E27FC236}">
                  <a16:creationId xmlns:a16="http://schemas.microsoft.com/office/drawing/2014/main" id="{C4D5EDE8-09B7-8F66-BE25-DD04A46D4A8F}"/>
                </a:ext>
              </a:extLst>
            </p:cNvPr>
            <p:cNvSpPr/>
            <p:nvPr/>
          </p:nvSpPr>
          <p:spPr>
            <a:xfrm>
              <a:off x="11622208" y="333205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chemeClr val="accent6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13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6E993C4-75DA-D93C-787F-413177F4C2DD}"/>
              </a:ext>
            </a:extLst>
          </p:cNvPr>
          <p:cNvGrpSpPr/>
          <p:nvPr/>
        </p:nvGrpSpPr>
        <p:grpSpPr>
          <a:xfrm>
            <a:off x="4948300" y="3005420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C965A801-3EA0-A69F-6758-BC27A2466E26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Negócios Jurídicos e Controle Externo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(Carlos Henrique Jardim)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tângulo: Cantos Diagonais Arredondados 18">
              <a:extLst>
                <a:ext uri="{FF2B5EF4-FFF2-40B4-BE49-F238E27FC236}">
                  <a16:creationId xmlns:a16="http://schemas.microsoft.com/office/drawing/2014/main" id="{A03B9BF5-FA76-64EA-8D2E-58AC8E7CD4D6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2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E651B73-A38A-81D1-F31E-EE5BD0B4E9D3}"/>
              </a:ext>
            </a:extLst>
          </p:cNvPr>
          <p:cNvGrpSpPr/>
          <p:nvPr/>
        </p:nvGrpSpPr>
        <p:grpSpPr>
          <a:xfrm>
            <a:off x="8154770" y="2965616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E00D006C-6E94-AED2-69C8-D5C1FB760018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do Consultivo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(Sidney Batalha)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tângulo: Cantos Diagonais Arredondados 21">
              <a:extLst>
                <a:ext uri="{FF2B5EF4-FFF2-40B4-BE49-F238E27FC236}">
                  <a16:creationId xmlns:a16="http://schemas.microsoft.com/office/drawing/2014/main" id="{77C38795-71AA-C100-9A8B-D25D9F89D52C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2</a:t>
              </a:r>
            </a:p>
          </p:txBody>
        </p:sp>
      </p:grp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04CD6709-E73F-92AF-2482-6FE185BEC4A1}"/>
              </a:ext>
            </a:extLst>
          </p:cNvPr>
          <p:cNvCxnSpPr>
            <a:stCxn id="9" idx="2"/>
            <a:endCxn id="18" idx="0"/>
          </p:cNvCxnSpPr>
          <p:nvPr/>
        </p:nvCxnSpPr>
        <p:spPr>
          <a:xfrm rot="5400000">
            <a:off x="5666052" y="2651838"/>
            <a:ext cx="705281" cy="188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4E194AC5-36F6-E98D-BF55-43E7E9DA4D83}"/>
              </a:ext>
            </a:extLst>
          </p:cNvPr>
          <p:cNvCxnSpPr>
            <a:cxnSpLocks/>
            <a:stCxn id="9" idx="2"/>
            <a:endCxn id="21" idx="0"/>
          </p:cNvCxnSpPr>
          <p:nvPr/>
        </p:nvCxnSpPr>
        <p:spPr>
          <a:xfrm rot="16200000" flipH="1">
            <a:off x="7289189" y="1030583"/>
            <a:ext cx="665477" cy="320458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6570582F-34C6-2257-8BAA-01BE8ABD222A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 rot="5400000">
            <a:off x="4084601" y="1030583"/>
            <a:ext cx="665477" cy="320458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9761020-CBDD-44FB-CE92-89BA518CBCBF}"/>
              </a:ext>
            </a:extLst>
          </p:cNvPr>
          <p:cNvGrpSpPr/>
          <p:nvPr/>
        </p:nvGrpSpPr>
        <p:grpSpPr>
          <a:xfrm>
            <a:off x="286011" y="4154964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3CC15B95-FD21-13F7-E403-18BFB9C195A9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 Contencioso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(Pedro Siqueira)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" name="Retângulo: Cantos Diagonais Arredondados 3">
              <a:extLst>
                <a:ext uri="{FF2B5EF4-FFF2-40B4-BE49-F238E27FC236}">
                  <a16:creationId xmlns:a16="http://schemas.microsoft.com/office/drawing/2014/main" id="{DB237093-8BCE-647C-692E-8978D89C9FAB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12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EEB95EEA-C803-D896-23E2-477FB90A7A2C}"/>
              </a:ext>
            </a:extLst>
          </p:cNvPr>
          <p:cNvGrpSpPr/>
          <p:nvPr/>
        </p:nvGrpSpPr>
        <p:grpSpPr>
          <a:xfrm>
            <a:off x="2610423" y="4154964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82C0F901-1719-5E92-2B44-ED87B167CFA2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 Assuntos Jurídicos de Representação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(Marcos Abreu Torres)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tângulo: Cantos Diagonais Arredondados 12">
              <a:extLst>
                <a:ext uri="{FF2B5EF4-FFF2-40B4-BE49-F238E27FC236}">
                  <a16:creationId xmlns:a16="http://schemas.microsoft.com/office/drawing/2014/main" id="{5A72D407-31AC-9848-57BB-9B52C0B4C172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8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81B52FA-FD2B-2AF5-69AC-B6DC16528F59}"/>
              </a:ext>
            </a:extLst>
          </p:cNvPr>
          <p:cNvGrpSpPr/>
          <p:nvPr/>
        </p:nvGrpSpPr>
        <p:grpSpPr>
          <a:xfrm>
            <a:off x="4948300" y="4154964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2053692B-06E7-998B-8084-67C6C7389EF0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 Negócios Jurídicos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(José Virgílio </a:t>
              </a:r>
              <a:r>
                <a:rPr lang="pt-BR" sz="1050" i="1" dirty="0" err="1">
                  <a:solidFill>
                    <a:schemeClr val="tx1"/>
                  </a:solidFill>
                </a:rPr>
                <a:t>Molinar</a:t>
              </a:r>
              <a:r>
                <a:rPr lang="pt-BR" sz="1050" i="1" dirty="0">
                  <a:solidFill>
                    <a:schemeClr val="tx1"/>
                  </a:solidFill>
                </a:rPr>
                <a:t>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tângulo: Cantos Diagonais Arredondados 15">
              <a:extLst>
                <a:ext uri="{FF2B5EF4-FFF2-40B4-BE49-F238E27FC236}">
                  <a16:creationId xmlns:a16="http://schemas.microsoft.com/office/drawing/2014/main" id="{C502F0C9-5CF7-B711-9C4F-78259D41C863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12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2E440FB6-7510-C3FA-5D44-D3068106AE3A}"/>
              </a:ext>
            </a:extLst>
          </p:cNvPr>
          <p:cNvGrpSpPr/>
          <p:nvPr/>
        </p:nvGrpSpPr>
        <p:grpSpPr>
          <a:xfrm>
            <a:off x="7259245" y="4154964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5C6EB913-0EA1-5F9F-3B98-010DBD838BC3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 Assuntos Institucionais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(Artur Sacco)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32" name="Retângulo: Cantos Diagonais Arredondados 31">
              <a:extLst>
                <a:ext uri="{FF2B5EF4-FFF2-40B4-BE49-F238E27FC236}">
                  <a16:creationId xmlns:a16="http://schemas.microsoft.com/office/drawing/2014/main" id="{1385AD2A-CAF2-7FF7-C603-4CF1A55078A3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4076FC9D-52F4-14CB-C013-A159CC3C423E}"/>
              </a:ext>
            </a:extLst>
          </p:cNvPr>
          <p:cNvGrpSpPr/>
          <p:nvPr/>
        </p:nvGrpSpPr>
        <p:grpSpPr>
          <a:xfrm>
            <a:off x="9583657" y="4154964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24AFB0D-E4B0-4BFF-51F7-D1B7B61B511F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Consultoria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(Fabíola Pasini)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tângulo: Cantos Diagonais Arredondados 34">
              <a:extLst>
                <a:ext uri="{FF2B5EF4-FFF2-40B4-BE49-F238E27FC236}">
                  <a16:creationId xmlns:a16="http://schemas.microsoft.com/office/drawing/2014/main" id="{D1031809-BD52-4A89-2AD8-1DF915CB512D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8</a:t>
              </a:r>
            </a:p>
          </p:txBody>
        </p:sp>
      </p:grp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EBFD436A-BA64-B995-635B-B748CF4D7970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 rot="5400000">
            <a:off x="1851371" y="3191289"/>
            <a:ext cx="467767" cy="145958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418E0265-9781-6F60-7CF4-2186C5C674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rot="16200000" flipH="1">
            <a:off x="3013576" y="3488665"/>
            <a:ext cx="467767" cy="86482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6D3A1686-9BBD-B9A6-507B-868C632CE533}"/>
              </a:ext>
            </a:extLst>
          </p:cNvPr>
          <p:cNvCxnSpPr>
            <a:cxnSpLocks/>
            <a:stCxn id="18" idx="2"/>
            <a:endCxn id="15" idx="0"/>
          </p:cNvCxnSpPr>
          <p:nvPr/>
        </p:nvCxnSpPr>
        <p:spPr>
          <a:xfrm>
            <a:off x="6017751" y="3727001"/>
            <a:ext cx="0" cy="427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DB71BFE1-3324-5B80-6B8C-22656F2C2DB5}"/>
              </a:ext>
            </a:extLst>
          </p:cNvPr>
          <p:cNvCxnSpPr>
            <a:cxnSpLocks/>
            <a:stCxn id="21" idx="2"/>
            <a:endCxn id="30" idx="0"/>
          </p:cNvCxnSpPr>
          <p:nvPr/>
        </p:nvCxnSpPr>
        <p:spPr>
          <a:xfrm rot="5400000">
            <a:off x="8542576" y="3473318"/>
            <a:ext cx="467767" cy="89552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DA7F20-720F-7306-582B-849CA7734AB0}"/>
              </a:ext>
            </a:extLst>
          </p:cNvPr>
          <p:cNvCxnSpPr>
            <a:cxnSpLocks/>
            <a:stCxn id="21" idx="2"/>
            <a:endCxn id="34" idx="0"/>
          </p:cNvCxnSpPr>
          <p:nvPr/>
        </p:nvCxnSpPr>
        <p:spPr>
          <a:xfrm rot="16200000" flipH="1">
            <a:off x="9704781" y="3206636"/>
            <a:ext cx="467767" cy="142888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580532E-BE94-3223-228E-92CA1B5DE4FC}"/>
              </a:ext>
            </a:extLst>
          </p:cNvPr>
          <p:cNvSpPr txBox="1"/>
          <p:nvPr/>
        </p:nvSpPr>
        <p:spPr>
          <a:xfrm>
            <a:off x="11120398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sp>
        <p:nvSpPr>
          <p:cNvPr id="26" name="Retângulo: Cantos Diagonais Arredondados 25">
            <a:extLst>
              <a:ext uri="{FF2B5EF4-FFF2-40B4-BE49-F238E27FC236}">
                <a16:creationId xmlns:a16="http://schemas.microsoft.com/office/drawing/2014/main" id="{4EB221F0-66D4-85A5-14A2-105B40A35711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52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31487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E3D59-17CF-5C9A-A6C8-9F6A5AF6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E383C20D-7AF1-D01B-D710-0265C2612A19}"/>
              </a:ext>
            </a:extLst>
          </p:cNvPr>
          <p:cNvGrpSpPr/>
          <p:nvPr/>
        </p:nvGrpSpPr>
        <p:grpSpPr>
          <a:xfrm>
            <a:off x="4883848" y="842285"/>
            <a:ext cx="2232914" cy="1066515"/>
            <a:chOff x="3546282" y="91564"/>
            <a:chExt cx="2138902" cy="10665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ABD8A8A8-7451-75E9-D412-825F818435A3}"/>
                </a:ext>
              </a:extLst>
            </p:cNvPr>
            <p:cNvSpPr/>
            <p:nvPr/>
          </p:nvSpPr>
          <p:spPr>
            <a:xfrm>
              <a:off x="3546282" y="91564"/>
              <a:ext cx="2138902" cy="1066515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solidFill>
                    <a:schemeClr val="tx1"/>
                  </a:solidFill>
                </a:rPr>
                <a:t>Diretoria de Relações Institucionais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(Roberto Muniz)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tângulo: Cantos Diagonais Arredondados 9">
              <a:extLst>
                <a:ext uri="{FF2B5EF4-FFF2-40B4-BE49-F238E27FC236}">
                  <a16:creationId xmlns:a16="http://schemas.microsoft.com/office/drawing/2014/main" id="{5F5E3C2E-3EB2-056F-CB82-1997546ACF4F}"/>
                </a:ext>
              </a:extLst>
            </p:cNvPr>
            <p:cNvSpPr/>
            <p:nvPr/>
          </p:nvSpPr>
          <p:spPr>
            <a:xfrm>
              <a:off x="5200154" y="98960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3F522181-19B3-880C-8E38-755B0F4AE123}"/>
              </a:ext>
            </a:extLst>
          </p:cNvPr>
          <p:cNvSpPr txBox="1"/>
          <p:nvPr/>
        </p:nvSpPr>
        <p:spPr>
          <a:xfrm>
            <a:off x="90941" y="34939"/>
            <a:ext cx="7305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Diretoria de Relações Institucionais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CAAFB4B-4F17-2F39-29B4-2EC394D91692}"/>
              </a:ext>
            </a:extLst>
          </p:cNvPr>
          <p:cNvGrpSpPr/>
          <p:nvPr/>
        </p:nvGrpSpPr>
        <p:grpSpPr>
          <a:xfrm>
            <a:off x="303293" y="2750534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186F541A-EC70-EEDA-DCF2-96B8A56EBA80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meio Ambiente e Sustentabilidade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(Davi Bomtempo)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tângulo: Cantos Diagonais Arredondados 24">
              <a:extLst>
                <a:ext uri="{FF2B5EF4-FFF2-40B4-BE49-F238E27FC236}">
                  <a16:creationId xmlns:a16="http://schemas.microsoft.com/office/drawing/2014/main" id="{8EE3FB8D-0A3D-72C0-2D67-BED254FC6969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6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6F396326-2BC2-63FD-2DD2-6D9808470B41}"/>
              </a:ext>
            </a:extLst>
          </p:cNvPr>
          <p:cNvGrpSpPr/>
          <p:nvPr/>
        </p:nvGrpSpPr>
        <p:grpSpPr>
          <a:xfrm>
            <a:off x="2595577" y="2750534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E1A0B693-551D-E5B4-8882-9AF85D4D81B7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Infraestrutura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(Wagner Cardoso)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0" name="Retângulo: Cantos Diagonais Arredondados 39">
              <a:extLst>
                <a:ext uri="{FF2B5EF4-FFF2-40B4-BE49-F238E27FC236}">
                  <a16:creationId xmlns:a16="http://schemas.microsoft.com/office/drawing/2014/main" id="{18AAB1F8-04C7-0EEB-A5E6-FE410228DABC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4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445F3A6B-4290-DE4C-B172-0F9B05CE9DF3}"/>
              </a:ext>
            </a:extLst>
          </p:cNvPr>
          <p:cNvGrpSpPr/>
          <p:nvPr/>
        </p:nvGrpSpPr>
        <p:grpSpPr>
          <a:xfrm>
            <a:off x="4936501" y="2750534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8A641F63-D766-6B28-24CB-EED5B2568285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Relações do Trabalho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(Sylvia Lorena)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5" name="Retângulo: Cantos Diagonais Arredondados 44">
              <a:extLst>
                <a:ext uri="{FF2B5EF4-FFF2-40B4-BE49-F238E27FC236}">
                  <a16:creationId xmlns:a16="http://schemas.microsoft.com/office/drawing/2014/main" id="{3CE61663-841D-F114-8F4C-FB7A152F098B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36670ED3-B8DC-C5A4-EC1A-08AA4ABCE0E1}"/>
              </a:ext>
            </a:extLst>
          </p:cNvPr>
          <p:cNvGrpSpPr/>
          <p:nvPr/>
        </p:nvGrpSpPr>
        <p:grpSpPr>
          <a:xfrm>
            <a:off x="7180145" y="2750534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229D81B0-116D-CF11-6B7A-C2B8FC2E8189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Relacionamento com o Poder Executivo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</a:t>
              </a:r>
              <a:r>
                <a:rPr lang="pt-BR" sz="1050" i="1" dirty="0" err="1">
                  <a:solidFill>
                    <a:schemeClr val="tx1"/>
                  </a:solidFill>
                </a:rPr>
                <a:t>Havila</a:t>
              </a:r>
              <a:r>
                <a:rPr lang="pt-BR" sz="1050" i="1" dirty="0">
                  <a:solidFill>
                    <a:schemeClr val="tx1"/>
                  </a:solidFill>
                </a:rPr>
                <a:t> da Nobrega)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tângulo: Cantos Diagonais Arredondados 48">
              <a:extLst>
                <a:ext uri="{FF2B5EF4-FFF2-40B4-BE49-F238E27FC236}">
                  <a16:creationId xmlns:a16="http://schemas.microsoft.com/office/drawing/2014/main" id="{EE9DDE74-76AE-44FE-9C84-866513679778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9</a:t>
              </a:r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D087324F-6DF2-12B0-B057-6FA3F67AE341}"/>
              </a:ext>
            </a:extLst>
          </p:cNvPr>
          <p:cNvGrpSpPr/>
          <p:nvPr/>
        </p:nvGrpSpPr>
        <p:grpSpPr>
          <a:xfrm>
            <a:off x="9472429" y="270741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Retângulo: Cantos Arredondados 50">
              <a:extLst>
                <a:ext uri="{FF2B5EF4-FFF2-40B4-BE49-F238E27FC236}">
                  <a16:creationId xmlns:a16="http://schemas.microsoft.com/office/drawing/2014/main" id="{E1074F57-C619-55B2-F264-D38C3B5B59A6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Assuntos Legislativos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(Marcos Borges)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52" name="Retângulo: Cantos Diagonais Arredondados 51">
              <a:extLst>
                <a:ext uri="{FF2B5EF4-FFF2-40B4-BE49-F238E27FC236}">
                  <a16:creationId xmlns:a16="http://schemas.microsoft.com/office/drawing/2014/main" id="{3B8FC290-B477-C9A4-DA5B-5BE09B9F8AE0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4</a:t>
              </a: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E5D6DED7-6C62-02CA-9255-3CDB76C388E3}"/>
              </a:ext>
            </a:extLst>
          </p:cNvPr>
          <p:cNvGrpSpPr/>
          <p:nvPr/>
        </p:nvGrpSpPr>
        <p:grpSpPr>
          <a:xfrm>
            <a:off x="574382" y="3626586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28230707-B632-D90A-E3AB-C4A50525E460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Recursos Naturais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(Mario Augusto Cardoso)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55" name="Retângulo: Cantos Diagonais Arredondados 54">
              <a:extLst>
                <a:ext uri="{FF2B5EF4-FFF2-40B4-BE49-F238E27FC236}">
                  <a16:creationId xmlns:a16="http://schemas.microsoft.com/office/drawing/2014/main" id="{01186076-9002-4204-491E-4ACBFD0D8453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7</a:t>
              </a:r>
            </a:p>
          </p:txBody>
        </p:sp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E8C5FFF1-2B0A-5FFB-D1CF-222AD647ADCF}"/>
              </a:ext>
            </a:extLst>
          </p:cNvPr>
          <p:cNvGrpSpPr/>
          <p:nvPr/>
        </p:nvGrpSpPr>
        <p:grpSpPr>
          <a:xfrm>
            <a:off x="574381" y="4399826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9" name="Retângulo: Cantos Arredondados 138">
              <a:extLst>
                <a:ext uri="{FF2B5EF4-FFF2-40B4-BE49-F238E27FC236}">
                  <a16:creationId xmlns:a16="http://schemas.microsoft.com/office/drawing/2014/main" id="{E12B740D-98CD-553C-CF01-D487F2302BBB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Projetos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de Meio Ambiente e Sustentabilidade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</a:t>
              </a:r>
              <a:r>
                <a:rPr lang="pt-BR" sz="900" i="1" dirty="0" err="1">
                  <a:solidFill>
                    <a:schemeClr val="tx1"/>
                  </a:solidFill>
                </a:rPr>
                <a:t>Tatiani</a:t>
              </a:r>
              <a:r>
                <a:rPr lang="pt-BR" sz="900" i="1" dirty="0">
                  <a:solidFill>
                    <a:schemeClr val="tx1"/>
                  </a:solidFill>
                </a:rPr>
                <a:t> Leal)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0" name="Retângulo: Cantos Diagonais Arredondados 139">
              <a:extLst>
                <a:ext uri="{FF2B5EF4-FFF2-40B4-BE49-F238E27FC236}">
                  <a16:creationId xmlns:a16="http://schemas.microsoft.com/office/drawing/2014/main" id="{9C73054E-7CFE-3273-E675-23609B37E7ED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5</a:t>
              </a:r>
            </a:p>
          </p:txBody>
        </p:sp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5DA2913B-CFD4-4E54-9615-304D90425A56}"/>
              </a:ext>
            </a:extLst>
          </p:cNvPr>
          <p:cNvGrpSpPr/>
          <p:nvPr/>
        </p:nvGrpSpPr>
        <p:grpSpPr>
          <a:xfrm>
            <a:off x="2866666" y="3626586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2" name="Retângulo: Cantos Arredondados 141">
              <a:extLst>
                <a:ext uri="{FF2B5EF4-FFF2-40B4-BE49-F238E27FC236}">
                  <a16:creationId xmlns:a16="http://schemas.microsoft.com/office/drawing/2014/main" id="{1DDB643F-AC2A-DC28-CEF8-5E2C9A7067C5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Transporte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 Mobilidade Urbana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3" name="Retângulo: Cantos Diagonais Arredondados 142">
              <a:extLst>
                <a:ext uri="{FF2B5EF4-FFF2-40B4-BE49-F238E27FC236}">
                  <a16:creationId xmlns:a16="http://schemas.microsoft.com/office/drawing/2014/main" id="{EFF6A060-7342-7641-BF92-DF62B4662EB0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2</a:t>
              </a:r>
            </a:p>
          </p:txBody>
        </p:sp>
      </p:grp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50EDF02B-DA8A-E6F3-84EC-2DF5B5392E1C}"/>
              </a:ext>
            </a:extLst>
          </p:cNvPr>
          <p:cNvGrpSpPr/>
          <p:nvPr/>
        </p:nvGrpSpPr>
        <p:grpSpPr>
          <a:xfrm>
            <a:off x="2866666" y="4399826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5" name="Retângulo: Cantos Arredondados 144">
              <a:extLst>
                <a:ext uri="{FF2B5EF4-FFF2-40B4-BE49-F238E27FC236}">
                  <a16:creationId xmlns:a16="http://schemas.microsoft.com/office/drawing/2014/main" id="{AFA5FC27-0B42-778F-A301-F13AD1A16353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Energia, Saneamento e Telecomunicações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(Roberto Pereira)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6" name="Retângulo: Cantos Diagonais Arredondados 145">
              <a:extLst>
                <a:ext uri="{FF2B5EF4-FFF2-40B4-BE49-F238E27FC236}">
                  <a16:creationId xmlns:a16="http://schemas.microsoft.com/office/drawing/2014/main" id="{1905FC07-3C7E-B3AA-A998-30CE705BB3B5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4</a:t>
              </a:r>
            </a:p>
          </p:txBody>
        </p:sp>
      </p:grp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94D05E81-414F-37F2-012A-ACF2E5A7E4A7}"/>
              </a:ext>
            </a:extLst>
          </p:cNvPr>
          <p:cNvGrpSpPr/>
          <p:nvPr/>
        </p:nvGrpSpPr>
        <p:grpSpPr>
          <a:xfrm>
            <a:off x="5158949" y="3626586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8" name="Retângulo: Cantos Arredondados 147">
              <a:extLst>
                <a:ext uri="{FF2B5EF4-FFF2-40B4-BE49-F238E27FC236}">
                  <a16:creationId xmlns:a16="http://schemas.microsoft.com/office/drawing/2014/main" id="{88CACF58-4435-2D93-7EB7-1CF86542F361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Estratégia e Articulação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(Andreia Lopes)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9" name="Retângulo: Cantos Diagonais Arredondados 148">
              <a:extLst>
                <a:ext uri="{FF2B5EF4-FFF2-40B4-BE49-F238E27FC236}">
                  <a16:creationId xmlns:a16="http://schemas.microsoft.com/office/drawing/2014/main" id="{D9176995-EE62-A238-29A1-078A6B91131D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16</a:t>
              </a:r>
            </a:p>
          </p:txBody>
        </p:sp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D47F2B01-7F1D-67F2-07AC-ADF32EE877A7}"/>
              </a:ext>
            </a:extLst>
          </p:cNvPr>
          <p:cNvGrpSpPr/>
          <p:nvPr/>
        </p:nvGrpSpPr>
        <p:grpSpPr>
          <a:xfrm>
            <a:off x="7451231" y="3626586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1" name="Retângulo: Cantos Arredondados 150">
              <a:extLst>
                <a:ext uri="{FF2B5EF4-FFF2-40B4-BE49-F238E27FC236}">
                  <a16:creationId xmlns:a16="http://schemas.microsoft.com/office/drawing/2014/main" id="{05136884-B62A-0B67-6BEA-39B9272A8C31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Articulação e Controle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</a:t>
              </a:r>
              <a:r>
                <a:rPr lang="pt-BR" sz="900" i="1" dirty="0" err="1">
                  <a:solidFill>
                    <a:schemeClr val="tx1"/>
                  </a:solidFill>
                </a:rPr>
                <a:t>Mariangela</a:t>
              </a:r>
              <a:r>
                <a:rPr lang="pt-BR" sz="900" i="1" dirty="0">
                  <a:solidFill>
                    <a:schemeClr val="tx1"/>
                  </a:solidFill>
                </a:rPr>
                <a:t> de Almeida)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52" name="Retângulo: Cantos Diagonais Arredondados 151">
              <a:extLst>
                <a:ext uri="{FF2B5EF4-FFF2-40B4-BE49-F238E27FC236}">
                  <a16:creationId xmlns:a16="http://schemas.microsoft.com/office/drawing/2014/main" id="{BF52F60B-D359-4CE0-5190-65239F83E21C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5</a:t>
              </a:r>
            </a:p>
          </p:txBody>
        </p:sp>
      </p:grpSp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AC13C652-70A1-5578-CDAA-93D0165581F8}"/>
              </a:ext>
            </a:extLst>
          </p:cNvPr>
          <p:cNvGrpSpPr/>
          <p:nvPr/>
        </p:nvGrpSpPr>
        <p:grpSpPr>
          <a:xfrm>
            <a:off x="9743513" y="358347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4" name="Retângulo: Cantos Arredondados 153">
              <a:extLst>
                <a:ext uri="{FF2B5EF4-FFF2-40B4-BE49-F238E27FC236}">
                  <a16:creationId xmlns:a16="http://schemas.microsoft.com/office/drawing/2014/main" id="{36E36160-2DFE-21F5-DAB4-FCE3CEAD085E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Articulação com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a Câmara dos Deputados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(Beatriz Naves)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55" name="Retângulo: Cantos Diagonais Arredondados 154">
              <a:extLst>
                <a:ext uri="{FF2B5EF4-FFF2-40B4-BE49-F238E27FC236}">
                  <a16:creationId xmlns:a16="http://schemas.microsoft.com/office/drawing/2014/main" id="{5B0AF325-262A-4529-09D7-C98489F859CF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9</a:t>
              </a:r>
            </a:p>
          </p:txBody>
        </p:sp>
      </p:grpSp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2C101DA0-807F-A205-78DD-304A01A8A9B7}"/>
              </a:ext>
            </a:extLst>
          </p:cNvPr>
          <p:cNvGrpSpPr/>
          <p:nvPr/>
        </p:nvGrpSpPr>
        <p:grpSpPr>
          <a:xfrm>
            <a:off x="9745947" y="4313842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7" name="Retângulo: Cantos Arredondados 156">
              <a:extLst>
                <a:ext uri="{FF2B5EF4-FFF2-40B4-BE49-F238E27FC236}">
                  <a16:creationId xmlns:a16="http://schemas.microsoft.com/office/drawing/2014/main" id="{45B4FB7A-D91E-1DD3-F18B-6563F70DEF02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Estudos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 Formulação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(Frederico Cezar)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58" name="Retângulo: Cantos Diagonais Arredondados 157">
              <a:extLst>
                <a:ext uri="{FF2B5EF4-FFF2-40B4-BE49-F238E27FC236}">
                  <a16:creationId xmlns:a16="http://schemas.microsoft.com/office/drawing/2014/main" id="{A1CC260A-F932-9C51-57E4-1207C1E20500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8</a:t>
              </a:r>
            </a:p>
          </p:txBody>
        </p:sp>
      </p:grpSp>
      <p:grpSp>
        <p:nvGrpSpPr>
          <p:cNvPr id="159" name="Agrupar 158">
            <a:extLst>
              <a:ext uri="{FF2B5EF4-FFF2-40B4-BE49-F238E27FC236}">
                <a16:creationId xmlns:a16="http://schemas.microsoft.com/office/drawing/2014/main" id="{8E2FD9F2-14AB-005C-35F1-AA5C5CF46C93}"/>
              </a:ext>
            </a:extLst>
          </p:cNvPr>
          <p:cNvGrpSpPr/>
          <p:nvPr/>
        </p:nvGrpSpPr>
        <p:grpSpPr>
          <a:xfrm>
            <a:off x="9748381" y="5044213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0" name="Retângulo: Cantos Arredondados 159">
              <a:extLst>
                <a:ext uri="{FF2B5EF4-FFF2-40B4-BE49-F238E27FC236}">
                  <a16:creationId xmlns:a16="http://schemas.microsoft.com/office/drawing/2014/main" id="{294B0C04-A8E0-D8C5-9B2F-BB8907B44D56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Inform.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 Comunicação Legislativa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(Henrique Borges)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61" name="Retângulo: Cantos Diagonais Arredondados 160">
              <a:extLst>
                <a:ext uri="{FF2B5EF4-FFF2-40B4-BE49-F238E27FC236}">
                  <a16:creationId xmlns:a16="http://schemas.microsoft.com/office/drawing/2014/main" id="{880D4A63-9CC9-B674-E473-B34B6ECAAA7A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7</a:t>
              </a:r>
            </a:p>
          </p:txBody>
        </p:sp>
      </p:grpSp>
      <p:grpSp>
        <p:nvGrpSpPr>
          <p:cNvPr id="162" name="Agrupar 161">
            <a:extLst>
              <a:ext uri="{FF2B5EF4-FFF2-40B4-BE49-F238E27FC236}">
                <a16:creationId xmlns:a16="http://schemas.microsoft.com/office/drawing/2014/main" id="{D41C567A-6743-0E0D-54CD-8BF5E3582775}"/>
              </a:ext>
            </a:extLst>
          </p:cNvPr>
          <p:cNvGrpSpPr/>
          <p:nvPr/>
        </p:nvGrpSpPr>
        <p:grpSpPr>
          <a:xfrm>
            <a:off x="9750815" y="5774584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3" name="Retângulo: Cantos Arredondados 162">
              <a:extLst>
                <a:ext uri="{FF2B5EF4-FFF2-40B4-BE49-F238E27FC236}">
                  <a16:creationId xmlns:a16="http://schemas.microsoft.com/office/drawing/2014/main" id="{7C6C6491-0D54-76A6-6D66-5E9B48AB7859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Articulação no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Senado Federal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(Ana Paula Carvalho)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64" name="Retângulo: Cantos Diagonais Arredondados 163">
              <a:extLst>
                <a:ext uri="{FF2B5EF4-FFF2-40B4-BE49-F238E27FC236}">
                  <a16:creationId xmlns:a16="http://schemas.microsoft.com/office/drawing/2014/main" id="{4B29A07A-E586-29CE-ECF6-B7C324237F86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4</a:t>
              </a:r>
            </a:p>
          </p:txBody>
        </p:sp>
      </p:grpSp>
      <p:cxnSp>
        <p:nvCxnSpPr>
          <p:cNvPr id="166" name="Conector reto 165">
            <a:extLst>
              <a:ext uri="{FF2B5EF4-FFF2-40B4-BE49-F238E27FC236}">
                <a16:creationId xmlns:a16="http://schemas.microsoft.com/office/drawing/2014/main" id="{77B4A383-0DF7-3C96-1FAD-B959A647B75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98425" y="3101055"/>
            <a:ext cx="271089" cy="829918"/>
          </a:xfrm>
          <a:prstGeom prst="bentConnector3">
            <a:avLst>
              <a:gd name="adj1" fmla="val -356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Conector reto 167">
            <a:extLst>
              <a:ext uri="{FF2B5EF4-FFF2-40B4-BE49-F238E27FC236}">
                <a16:creationId xmlns:a16="http://schemas.microsoft.com/office/drawing/2014/main" id="{36C44311-C91B-2828-7B38-687C45C4A76B}"/>
              </a:ext>
            </a:extLst>
          </p:cNvPr>
          <p:cNvCxnSpPr>
            <a:cxnSpLocks/>
            <a:stCxn id="24" idx="1"/>
            <a:endCxn id="139" idx="1"/>
          </p:cNvCxnSpPr>
          <p:nvPr/>
        </p:nvCxnSpPr>
        <p:spPr>
          <a:xfrm rot="10800000" flipH="1" flipV="1">
            <a:off x="303293" y="3111325"/>
            <a:ext cx="271088" cy="1603158"/>
          </a:xfrm>
          <a:prstGeom prst="bentConnector3">
            <a:avLst>
              <a:gd name="adj1" fmla="val -3564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Conector reto 167">
            <a:extLst>
              <a:ext uri="{FF2B5EF4-FFF2-40B4-BE49-F238E27FC236}">
                <a16:creationId xmlns:a16="http://schemas.microsoft.com/office/drawing/2014/main" id="{304EA666-0B20-1FA7-E577-DC9A53CD8C0E}"/>
              </a:ext>
            </a:extLst>
          </p:cNvPr>
          <p:cNvCxnSpPr>
            <a:cxnSpLocks/>
            <a:stCxn id="39" idx="1"/>
            <a:endCxn id="142" idx="1"/>
          </p:cNvCxnSpPr>
          <p:nvPr/>
        </p:nvCxnSpPr>
        <p:spPr>
          <a:xfrm rot="10800000" flipH="1" flipV="1">
            <a:off x="2595576" y="3111325"/>
            <a:ext cx="271089" cy="829918"/>
          </a:xfrm>
          <a:prstGeom prst="bentConnector3">
            <a:avLst>
              <a:gd name="adj1" fmla="val -2868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Conector reto 167">
            <a:extLst>
              <a:ext uri="{FF2B5EF4-FFF2-40B4-BE49-F238E27FC236}">
                <a16:creationId xmlns:a16="http://schemas.microsoft.com/office/drawing/2014/main" id="{A659F897-623A-472F-3EFD-AC4BABE23967}"/>
              </a:ext>
            </a:extLst>
          </p:cNvPr>
          <p:cNvCxnSpPr>
            <a:cxnSpLocks/>
            <a:stCxn id="43" idx="1"/>
            <a:endCxn id="148" idx="1"/>
          </p:cNvCxnSpPr>
          <p:nvPr/>
        </p:nvCxnSpPr>
        <p:spPr>
          <a:xfrm rot="10800000" flipH="1" flipV="1">
            <a:off x="4936501" y="3111325"/>
            <a:ext cx="222448" cy="829918"/>
          </a:xfrm>
          <a:prstGeom prst="bentConnector3">
            <a:avLst>
              <a:gd name="adj1" fmla="val -415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Conector reto 167">
            <a:extLst>
              <a:ext uri="{FF2B5EF4-FFF2-40B4-BE49-F238E27FC236}">
                <a16:creationId xmlns:a16="http://schemas.microsoft.com/office/drawing/2014/main" id="{ED8CA544-6C94-A67C-6B4C-8BF58C9FCE23}"/>
              </a:ext>
            </a:extLst>
          </p:cNvPr>
          <p:cNvCxnSpPr>
            <a:cxnSpLocks/>
            <a:stCxn id="48" idx="1"/>
            <a:endCxn id="151" idx="1"/>
          </p:cNvCxnSpPr>
          <p:nvPr/>
        </p:nvCxnSpPr>
        <p:spPr>
          <a:xfrm rot="10800000" flipH="1" flipV="1">
            <a:off x="7180145" y="3111325"/>
            <a:ext cx="271086" cy="829918"/>
          </a:xfrm>
          <a:prstGeom prst="bentConnector3">
            <a:avLst>
              <a:gd name="adj1" fmla="val -2868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Conector reto 167">
            <a:extLst>
              <a:ext uri="{FF2B5EF4-FFF2-40B4-BE49-F238E27FC236}">
                <a16:creationId xmlns:a16="http://schemas.microsoft.com/office/drawing/2014/main" id="{9AE3C336-E072-5F02-D84D-1201CF10B292}"/>
              </a:ext>
            </a:extLst>
          </p:cNvPr>
          <p:cNvCxnSpPr>
            <a:cxnSpLocks/>
            <a:stCxn id="51" idx="1"/>
            <a:endCxn id="154" idx="1"/>
          </p:cNvCxnSpPr>
          <p:nvPr/>
        </p:nvCxnSpPr>
        <p:spPr>
          <a:xfrm rot="10800000" flipH="1" flipV="1">
            <a:off x="9472429" y="3068210"/>
            <a:ext cx="271084" cy="829918"/>
          </a:xfrm>
          <a:prstGeom prst="bentConnector3">
            <a:avLst>
              <a:gd name="adj1" fmla="val -2184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Conector reto 167">
            <a:extLst>
              <a:ext uri="{FF2B5EF4-FFF2-40B4-BE49-F238E27FC236}">
                <a16:creationId xmlns:a16="http://schemas.microsoft.com/office/drawing/2014/main" id="{4727FCDA-02CC-5257-CEE2-CCD755BC4499}"/>
              </a:ext>
            </a:extLst>
          </p:cNvPr>
          <p:cNvCxnSpPr>
            <a:cxnSpLocks/>
            <a:stCxn id="51" idx="1"/>
            <a:endCxn id="157" idx="1"/>
          </p:cNvCxnSpPr>
          <p:nvPr/>
        </p:nvCxnSpPr>
        <p:spPr>
          <a:xfrm rot="10800000" flipH="1" flipV="1">
            <a:off x="9472429" y="3068209"/>
            <a:ext cx="273518" cy="1560289"/>
          </a:xfrm>
          <a:prstGeom prst="bentConnector3">
            <a:avLst>
              <a:gd name="adj1" fmla="val -2187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Conector reto 167">
            <a:extLst>
              <a:ext uri="{FF2B5EF4-FFF2-40B4-BE49-F238E27FC236}">
                <a16:creationId xmlns:a16="http://schemas.microsoft.com/office/drawing/2014/main" id="{18503DEA-09D4-5B02-7CC5-B52108BD9A54}"/>
              </a:ext>
            </a:extLst>
          </p:cNvPr>
          <p:cNvCxnSpPr>
            <a:cxnSpLocks/>
            <a:stCxn id="51" idx="1"/>
            <a:endCxn id="160" idx="1"/>
          </p:cNvCxnSpPr>
          <p:nvPr/>
        </p:nvCxnSpPr>
        <p:spPr>
          <a:xfrm rot="10800000" flipH="1" flipV="1">
            <a:off x="9472429" y="3068210"/>
            <a:ext cx="275952" cy="2290660"/>
          </a:xfrm>
          <a:prstGeom prst="bentConnector3">
            <a:avLst>
              <a:gd name="adj1" fmla="val -2145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Conector reto 167">
            <a:extLst>
              <a:ext uri="{FF2B5EF4-FFF2-40B4-BE49-F238E27FC236}">
                <a16:creationId xmlns:a16="http://schemas.microsoft.com/office/drawing/2014/main" id="{3B3DAEE2-507E-12E8-4C04-B8A6316A5243}"/>
              </a:ext>
            </a:extLst>
          </p:cNvPr>
          <p:cNvCxnSpPr>
            <a:cxnSpLocks/>
            <a:stCxn id="51" idx="1"/>
            <a:endCxn id="163" idx="1"/>
          </p:cNvCxnSpPr>
          <p:nvPr/>
        </p:nvCxnSpPr>
        <p:spPr>
          <a:xfrm rot="10800000" flipH="1" flipV="1">
            <a:off x="9472429" y="3068209"/>
            <a:ext cx="278386" cy="3021031"/>
          </a:xfrm>
          <a:prstGeom prst="bentConnector3">
            <a:avLst>
              <a:gd name="adj1" fmla="val -2138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Conector reto 167">
            <a:extLst>
              <a:ext uri="{FF2B5EF4-FFF2-40B4-BE49-F238E27FC236}">
                <a16:creationId xmlns:a16="http://schemas.microsoft.com/office/drawing/2014/main" id="{29234533-B675-98CD-3910-6BE1DEC99906}"/>
              </a:ext>
            </a:extLst>
          </p:cNvPr>
          <p:cNvCxnSpPr>
            <a:cxnSpLocks/>
            <a:stCxn id="39" idx="1"/>
            <a:endCxn id="145" idx="1"/>
          </p:cNvCxnSpPr>
          <p:nvPr/>
        </p:nvCxnSpPr>
        <p:spPr>
          <a:xfrm rot="10800000" flipH="1" flipV="1">
            <a:off x="2595576" y="3111325"/>
            <a:ext cx="271089" cy="1603158"/>
          </a:xfrm>
          <a:prstGeom prst="bentConnector3">
            <a:avLst>
              <a:gd name="adj1" fmla="val -3216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2" name="Agrupar 211">
            <a:extLst>
              <a:ext uri="{FF2B5EF4-FFF2-40B4-BE49-F238E27FC236}">
                <a16:creationId xmlns:a16="http://schemas.microsoft.com/office/drawing/2014/main" id="{92EDE709-5AE9-250A-7E86-C1FB849EC130}"/>
              </a:ext>
            </a:extLst>
          </p:cNvPr>
          <p:cNvGrpSpPr/>
          <p:nvPr/>
        </p:nvGrpSpPr>
        <p:grpSpPr>
          <a:xfrm>
            <a:off x="9650965" y="1700354"/>
            <a:ext cx="1867814" cy="629312"/>
            <a:chOff x="3546280" y="646041"/>
            <a:chExt cx="1798621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3" name="Retângulo: Cantos Arredondados 212">
              <a:extLst>
                <a:ext uri="{FF2B5EF4-FFF2-40B4-BE49-F238E27FC236}">
                  <a16:creationId xmlns:a16="http://schemas.microsoft.com/office/drawing/2014/main" id="{4CFED148-404D-6CFF-43D2-38DACBEE6E40}"/>
                </a:ext>
              </a:extLst>
            </p:cNvPr>
            <p:cNvSpPr/>
            <p:nvPr/>
          </p:nvSpPr>
          <p:spPr>
            <a:xfrm>
              <a:off x="3546280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Gestão e Informações da DRI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b="1" i="1" dirty="0">
                  <a:solidFill>
                    <a:schemeClr val="tx1"/>
                  </a:solidFill>
                </a:rPr>
                <a:t>(</a:t>
              </a:r>
              <a:r>
                <a:rPr lang="pt-BR" sz="900" i="1" dirty="0">
                  <a:solidFill>
                    <a:schemeClr val="tx1"/>
                  </a:solidFill>
                </a:rPr>
                <a:t>Ana Paula Freire)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214" name="Retângulo: Cantos Diagonais Arredondados 213">
              <a:extLst>
                <a:ext uri="{FF2B5EF4-FFF2-40B4-BE49-F238E27FC236}">
                  <a16:creationId xmlns:a16="http://schemas.microsoft.com/office/drawing/2014/main" id="{ECEA001C-B392-9D37-641D-1C72B260952D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3</a:t>
              </a:r>
            </a:p>
          </p:txBody>
        </p:sp>
      </p:grpSp>
      <p:cxnSp>
        <p:nvCxnSpPr>
          <p:cNvPr id="218" name="Conector reto 217">
            <a:extLst>
              <a:ext uri="{FF2B5EF4-FFF2-40B4-BE49-F238E27FC236}">
                <a16:creationId xmlns:a16="http://schemas.microsoft.com/office/drawing/2014/main" id="{25ECB6C0-F432-E908-410E-F54547FE3848}"/>
              </a:ext>
            </a:extLst>
          </p:cNvPr>
          <p:cNvCxnSpPr>
            <a:cxnSpLocks/>
            <a:stCxn id="9" idx="2"/>
            <a:endCxn id="43" idx="0"/>
          </p:cNvCxnSpPr>
          <p:nvPr/>
        </p:nvCxnSpPr>
        <p:spPr>
          <a:xfrm rot="16200000" flipH="1">
            <a:off x="5582261" y="2326843"/>
            <a:ext cx="841734" cy="564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Conector reto 217">
            <a:extLst>
              <a:ext uri="{FF2B5EF4-FFF2-40B4-BE49-F238E27FC236}">
                <a16:creationId xmlns:a16="http://schemas.microsoft.com/office/drawing/2014/main" id="{BA78C13E-B299-9A1B-8DCB-F59EA8CB1B76}"/>
              </a:ext>
            </a:extLst>
          </p:cNvPr>
          <p:cNvCxnSpPr>
            <a:cxnSpLocks/>
            <a:stCxn id="9" idx="2"/>
            <a:endCxn id="39" idx="0"/>
          </p:cNvCxnSpPr>
          <p:nvPr/>
        </p:nvCxnSpPr>
        <p:spPr>
          <a:xfrm rot="5400000">
            <a:off x="4411800" y="1162029"/>
            <a:ext cx="841734" cy="2335277"/>
          </a:xfrm>
          <a:prstGeom prst="bentConnector3">
            <a:avLst>
              <a:gd name="adj1" fmla="val 8235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Conector reto 217">
            <a:extLst>
              <a:ext uri="{FF2B5EF4-FFF2-40B4-BE49-F238E27FC236}">
                <a16:creationId xmlns:a16="http://schemas.microsoft.com/office/drawing/2014/main" id="{562CD48D-C34D-4AE8-51E6-01D13699A4A3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 rot="5400000">
            <a:off x="3265658" y="15887"/>
            <a:ext cx="841734" cy="4627561"/>
          </a:xfrm>
          <a:prstGeom prst="bentConnector3">
            <a:avLst>
              <a:gd name="adj1" fmla="val 8351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Conector reto 217">
            <a:extLst>
              <a:ext uri="{FF2B5EF4-FFF2-40B4-BE49-F238E27FC236}">
                <a16:creationId xmlns:a16="http://schemas.microsoft.com/office/drawing/2014/main" id="{DF2D4F12-6129-5A27-564B-17F92C611A74}"/>
              </a:ext>
            </a:extLst>
          </p:cNvPr>
          <p:cNvCxnSpPr>
            <a:cxnSpLocks/>
            <a:stCxn id="9" idx="2"/>
            <a:endCxn id="48" idx="0"/>
          </p:cNvCxnSpPr>
          <p:nvPr/>
        </p:nvCxnSpPr>
        <p:spPr>
          <a:xfrm rot="16200000" flipH="1">
            <a:off x="6704083" y="1205021"/>
            <a:ext cx="841734" cy="2249291"/>
          </a:xfrm>
          <a:prstGeom prst="bentConnector3">
            <a:avLst>
              <a:gd name="adj1" fmla="val 8351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Conector reto 217">
            <a:extLst>
              <a:ext uri="{FF2B5EF4-FFF2-40B4-BE49-F238E27FC236}">
                <a16:creationId xmlns:a16="http://schemas.microsoft.com/office/drawing/2014/main" id="{C608CFA7-D49E-A7C9-B63C-4929B8ECC60E}"/>
              </a:ext>
            </a:extLst>
          </p:cNvPr>
          <p:cNvCxnSpPr>
            <a:cxnSpLocks/>
            <a:stCxn id="9" idx="2"/>
            <a:endCxn id="51" idx="0"/>
          </p:cNvCxnSpPr>
          <p:nvPr/>
        </p:nvCxnSpPr>
        <p:spPr>
          <a:xfrm rot="16200000" flipH="1">
            <a:off x="7871783" y="37321"/>
            <a:ext cx="798619" cy="4541575"/>
          </a:xfrm>
          <a:prstGeom prst="bentConnector3">
            <a:avLst>
              <a:gd name="adj1" fmla="val 8776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49316C-8BDF-68E0-6BFC-3D8AE2CC5512}"/>
              </a:ext>
            </a:extLst>
          </p:cNvPr>
          <p:cNvSpPr txBox="1"/>
          <p:nvPr/>
        </p:nvSpPr>
        <p:spPr>
          <a:xfrm>
            <a:off x="11120398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sp>
        <p:nvSpPr>
          <p:cNvPr id="5" name="Retângulo: Cantos Diagonais Arredondados 4">
            <a:extLst>
              <a:ext uri="{FF2B5EF4-FFF2-40B4-BE49-F238E27FC236}">
                <a16:creationId xmlns:a16="http://schemas.microsoft.com/office/drawing/2014/main" id="{752B1B20-87F6-A80C-F60F-C8A11492B571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99</a:t>
            </a:r>
            <a:endParaRPr lang="pt-BR" sz="3200" b="1" dirty="0"/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6290999F-0289-76AD-AE3E-D6EA0D37AE74}"/>
              </a:ext>
            </a:extLst>
          </p:cNvPr>
          <p:cNvCxnSpPr>
            <a:stCxn id="9" idx="2"/>
            <a:endCxn id="213" idx="1"/>
          </p:cNvCxnSpPr>
          <p:nvPr/>
        </p:nvCxnSpPr>
        <p:spPr>
          <a:xfrm rot="16200000" flipH="1">
            <a:off x="7772530" y="136575"/>
            <a:ext cx="106211" cy="365066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tângulo: Cantos Diagonais Arredondados 30">
            <a:extLst>
              <a:ext uri="{FF2B5EF4-FFF2-40B4-BE49-F238E27FC236}">
                <a16:creationId xmlns:a16="http://schemas.microsoft.com/office/drawing/2014/main" id="{65273993-FCA9-D191-2150-A1D60CBE7514}"/>
              </a:ext>
            </a:extLst>
          </p:cNvPr>
          <p:cNvSpPr/>
          <p:nvPr/>
        </p:nvSpPr>
        <p:spPr>
          <a:xfrm>
            <a:off x="1957163" y="2454963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18</a:t>
            </a:r>
          </a:p>
        </p:txBody>
      </p:sp>
      <p:sp>
        <p:nvSpPr>
          <p:cNvPr id="32" name="Retângulo: Cantos Diagonais Arredondados 31">
            <a:extLst>
              <a:ext uri="{FF2B5EF4-FFF2-40B4-BE49-F238E27FC236}">
                <a16:creationId xmlns:a16="http://schemas.microsoft.com/office/drawing/2014/main" id="{4D5998B4-804F-2740-BC80-8EA44B2F3CC0}"/>
              </a:ext>
            </a:extLst>
          </p:cNvPr>
          <p:cNvSpPr/>
          <p:nvPr/>
        </p:nvSpPr>
        <p:spPr>
          <a:xfrm>
            <a:off x="4220814" y="2443817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10</a:t>
            </a:r>
          </a:p>
        </p:txBody>
      </p:sp>
      <p:sp>
        <p:nvSpPr>
          <p:cNvPr id="33" name="Retângulo: Cantos Diagonais Arredondados 32">
            <a:extLst>
              <a:ext uri="{FF2B5EF4-FFF2-40B4-BE49-F238E27FC236}">
                <a16:creationId xmlns:a16="http://schemas.microsoft.com/office/drawing/2014/main" id="{F5F073FD-2F81-0990-87BD-C5D60F9C86BF}"/>
              </a:ext>
            </a:extLst>
          </p:cNvPr>
          <p:cNvSpPr/>
          <p:nvPr/>
        </p:nvSpPr>
        <p:spPr>
          <a:xfrm>
            <a:off x="6581060" y="2430585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19</a:t>
            </a:r>
          </a:p>
        </p:txBody>
      </p:sp>
      <p:sp>
        <p:nvSpPr>
          <p:cNvPr id="34" name="Retângulo: Cantos Diagonais Arredondados 33">
            <a:extLst>
              <a:ext uri="{FF2B5EF4-FFF2-40B4-BE49-F238E27FC236}">
                <a16:creationId xmlns:a16="http://schemas.microsoft.com/office/drawing/2014/main" id="{2B8F2594-52ED-7DE1-A468-43B1E67A9DE5}"/>
              </a:ext>
            </a:extLst>
          </p:cNvPr>
          <p:cNvSpPr/>
          <p:nvPr/>
        </p:nvSpPr>
        <p:spPr>
          <a:xfrm>
            <a:off x="8797587" y="2430584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14</a:t>
            </a:r>
          </a:p>
        </p:txBody>
      </p:sp>
      <p:sp>
        <p:nvSpPr>
          <p:cNvPr id="35" name="Retângulo: Cantos Diagonais Arredondados 34">
            <a:extLst>
              <a:ext uri="{FF2B5EF4-FFF2-40B4-BE49-F238E27FC236}">
                <a16:creationId xmlns:a16="http://schemas.microsoft.com/office/drawing/2014/main" id="{2B651998-7AFC-86FF-7462-7F774A915CC9}"/>
              </a:ext>
            </a:extLst>
          </p:cNvPr>
          <p:cNvSpPr/>
          <p:nvPr/>
        </p:nvSpPr>
        <p:spPr>
          <a:xfrm>
            <a:off x="11113152" y="2409494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00778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2EB30-0997-E9D1-AA1A-0E6D6B11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1F40F27D-790E-A8ED-54B0-94D06589B170}"/>
              </a:ext>
            </a:extLst>
          </p:cNvPr>
          <p:cNvGrpSpPr/>
          <p:nvPr/>
        </p:nvGrpSpPr>
        <p:grpSpPr>
          <a:xfrm>
            <a:off x="4979543" y="678733"/>
            <a:ext cx="2232914" cy="1066515"/>
            <a:chOff x="3546282" y="646041"/>
            <a:chExt cx="2138902" cy="10665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B6DD5A7-E622-8429-C780-3DBA01B264E7}"/>
                </a:ext>
              </a:extLst>
            </p:cNvPr>
            <p:cNvSpPr/>
            <p:nvPr/>
          </p:nvSpPr>
          <p:spPr>
            <a:xfrm>
              <a:off x="3546282" y="646041"/>
              <a:ext cx="2138902" cy="1066515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solidFill>
                    <a:schemeClr val="tx1"/>
                  </a:solidFill>
                </a:rPr>
                <a:t>Diretoria de Desenvolvimento Industrial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(Mario Sergio Telles)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tângulo: Cantos Diagonais Arredondados 9">
              <a:extLst>
                <a:ext uri="{FF2B5EF4-FFF2-40B4-BE49-F238E27FC236}">
                  <a16:creationId xmlns:a16="http://schemas.microsoft.com/office/drawing/2014/main" id="{A97C04D6-4D5F-D879-D4DD-96ABA23609E7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4</a:t>
              </a:r>
            </a:p>
          </p:txBody>
        </p:sp>
      </p:grp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08FB2105-9EB6-953A-9416-A87C39CF8FFE}"/>
              </a:ext>
            </a:extLst>
          </p:cNvPr>
          <p:cNvSpPr txBox="1"/>
          <p:nvPr/>
        </p:nvSpPr>
        <p:spPr>
          <a:xfrm>
            <a:off x="90941" y="34939"/>
            <a:ext cx="8017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Diretoria de Desenvolvimento Industrial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8A85762-449A-DEFC-D0C5-48934ABC5686}"/>
              </a:ext>
            </a:extLst>
          </p:cNvPr>
          <p:cNvGrpSpPr/>
          <p:nvPr/>
        </p:nvGrpSpPr>
        <p:grpSpPr>
          <a:xfrm>
            <a:off x="1847221" y="3072540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C5224BA3-C2DA-DD69-CC1D-09C00565E297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Inteligência Econômica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(Márcio Guerra)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tângulo: Cantos Diagonais Arredondados 24">
              <a:extLst>
                <a:ext uri="{FF2B5EF4-FFF2-40B4-BE49-F238E27FC236}">
                  <a16:creationId xmlns:a16="http://schemas.microsoft.com/office/drawing/2014/main" id="{38E2B8B5-09C4-70AE-0D25-F7E2E441367E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2</a:t>
              </a: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DBFCA3BB-5771-5232-2E9D-C88041014033}"/>
              </a:ext>
            </a:extLst>
          </p:cNvPr>
          <p:cNvGrpSpPr/>
          <p:nvPr/>
        </p:nvGrpSpPr>
        <p:grpSpPr>
          <a:xfrm>
            <a:off x="2118310" y="3948592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56C9ABDE-9862-F825-A860-C7878C91226B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Política Econômica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(Kleber Castro)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55" name="Retângulo: Cantos Diagonais Arredondados 54">
              <a:extLst>
                <a:ext uri="{FF2B5EF4-FFF2-40B4-BE49-F238E27FC236}">
                  <a16:creationId xmlns:a16="http://schemas.microsoft.com/office/drawing/2014/main" id="{87860DC0-2116-BC62-AAE5-342ECCA648B7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7</a:t>
              </a:r>
            </a:p>
          </p:txBody>
        </p:sp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762DE592-F2A2-7254-2941-C55E84D8D6EF}"/>
              </a:ext>
            </a:extLst>
          </p:cNvPr>
          <p:cNvGrpSpPr/>
          <p:nvPr/>
        </p:nvGrpSpPr>
        <p:grpSpPr>
          <a:xfrm>
            <a:off x="2107250" y="4669900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9" name="Retângulo: Cantos Arredondados 138">
              <a:extLst>
                <a:ext uri="{FF2B5EF4-FFF2-40B4-BE49-F238E27FC236}">
                  <a16:creationId xmlns:a16="http://schemas.microsoft.com/office/drawing/2014/main" id="{B833F583-8C44-D5A0-204F-60F8072B23F3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Dados e Estatística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(Edson Velloso)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0" name="Retângulo: Cantos Diagonais Arredondados 139">
              <a:extLst>
                <a:ext uri="{FF2B5EF4-FFF2-40B4-BE49-F238E27FC236}">
                  <a16:creationId xmlns:a16="http://schemas.microsoft.com/office/drawing/2014/main" id="{22BB8043-1B35-4C5D-996C-1585550240D8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7</a:t>
              </a:r>
            </a:p>
          </p:txBody>
        </p:sp>
      </p:grpSp>
      <p:cxnSp>
        <p:nvCxnSpPr>
          <p:cNvPr id="166" name="Conector reto 165">
            <a:extLst>
              <a:ext uri="{FF2B5EF4-FFF2-40B4-BE49-F238E27FC236}">
                <a16:creationId xmlns:a16="http://schemas.microsoft.com/office/drawing/2014/main" id="{9A12D06F-853A-A886-9654-9D9EB8874B46}"/>
              </a:ext>
            </a:extLst>
          </p:cNvPr>
          <p:cNvCxnSpPr>
            <a:cxnSpLocks/>
            <a:stCxn id="24" idx="1"/>
            <a:endCxn id="54" idx="1"/>
          </p:cNvCxnSpPr>
          <p:nvPr/>
        </p:nvCxnSpPr>
        <p:spPr>
          <a:xfrm rot="10800000" flipH="1" flipV="1">
            <a:off x="1847220" y="3433331"/>
            <a:ext cx="271089" cy="829918"/>
          </a:xfrm>
          <a:prstGeom prst="bentConnector3">
            <a:avLst>
              <a:gd name="adj1" fmla="val -843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Conector reto 167">
            <a:extLst>
              <a:ext uri="{FF2B5EF4-FFF2-40B4-BE49-F238E27FC236}">
                <a16:creationId xmlns:a16="http://schemas.microsoft.com/office/drawing/2014/main" id="{9D585D66-9318-BE80-6C38-DC5345C7EB1D}"/>
              </a:ext>
            </a:extLst>
          </p:cNvPr>
          <p:cNvCxnSpPr>
            <a:cxnSpLocks/>
            <a:stCxn id="24" idx="1"/>
            <a:endCxn id="139" idx="1"/>
          </p:cNvCxnSpPr>
          <p:nvPr/>
        </p:nvCxnSpPr>
        <p:spPr>
          <a:xfrm rot="10800000" flipH="1" flipV="1">
            <a:off x="1847220" y="3433331"/>
            <a:ext cx="260029" cy="1551226"/>
          </a:xfrm>
          <a:prstGeom prst="bentConnector3">
            <a:avLst>
              <a:gd name="adj1" fmla="val -8791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4098AA57-1719-7E13-633E-9D5CD49FB17A}"/>
              </a:ext>
            </a:extLst>
          </p:cNvPr>
          <p:cNvGrpSpPr/>
          <p:nvPr/>
        </p:nvGrpSpPr>
        <p:grpSpPr>
          <a:xfrm>
            <a:off x="2118307" y="5402006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473D101F-7FF4-9757-C284-B008406886EC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Análise Econômica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(Marcelo Azevedo)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tângulo: Cantos Diagonais Arredondados 15">
              <a:extLst>
                <a:ext uri="{FF2B5EF4-FFF2-40B4-BE49-F238E27FC236}">
                  <a16:creationId xmlns:a16="http://schemas.microsoft.com/office/drawing/2014/main" id="{07993F5F-BC36-985A-D158-EAAFF277D230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5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AD957DA-871C-E5DB-25CA-CAE40CFEA0C8}"/>
              </a:ext>
            </a:extLst>
          </p:cNvPr>
          <p:cNvGrpSpPr/>
          <p:nvPr/>
        </p:nvGrpSpPr>
        <p:grpSpPr>
          <a:xfrm>
            <a:off x="2107249" y="6134113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F96A2D0F-4D45-22E9-C53F-47FE50C9A39E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do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Observatório Nacional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(Rafael Sousa)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tângulo: Cantos Diagonais Arredondados 18">
              <a:extLst>
                <a:ext uri="{FF2B5EF4-FFF2-40B4-BE49-F238E27FC236}">
                  <a16:creationId xmlns:a16="http://schemas.microsoft.com/office/drawing/2014/main" id="{55B7193E-6F57-411B-7C0A-7A5AD3D91632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18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ADFBD287-A205-ED73-5FB9-3C7E444911E3}"/>
              </a:ext>
            </a:extLst>
          </p:cNvPr>
          <p:cNvGrpSpPr/>
          <p:nvPr/>
        </p:nvGrpSpPr>
        <p:grpSpPr>
          <a:xfrm>
            <a:off x="5021557" y="3079042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17BB10-17B1-E5F0-7995-DB67ABA90654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de Política Industrial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(Fabrício Silveira)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tângulo: Cantos Diagonais Arredondados 21">
              <a:extLst>
                <a:ext uri="{FF2B5EF4-FFF2-40B4-BE49-F238E27FC236}">
                  <a16:creationId xmlns:a16="http://schemas.microsoft.com/office/drawing/2014/main" id="{EFB80E4D-0261-D50C-3AAF-E597EB34AD19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153E4AED-9637-0FE0-0A28-D551AD0EBC97}"/>
              </a:ext>
            </a:extLst>
          </p:cNvPr>
          <p:cNvGrpSpPr/>
          <p:nvPr/>
        </p:nvGrpSpPr>
        <p:grpSpPr>
          <a:xfrm>
            <a:off x="5292646" y="3955094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8CF358BC-7B04-66FE-E8A6-E5813C56EB90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Competitividade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(Alexandre Stein)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tângulo: Cantos Diagonais Arredondados 27">
              <a:extLst>
                <a:ext uri="{FF2B5EF4-FFF2-40B4-BE49-F238E27FC236}">
                  <a16:creationId xmlns:a16="http://schemas.microsoft.com/office/drawing/2014/main" id="{4D0B4682-E2BC-BB43-424B-3A2F1E879597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6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E4AF57A-F631-CF0A-959E-7277A1EE6063}"/>
              </a:ext>
            </a:extLst>
          </p:cNvPr>
          <p:cNvGrpSpPr/>
          <p:nvPr/>
        </p:nvGrpSpPr>
        <p:grpSpPr>
          <a:xfrm>
            <a:off x="5281586" y="4676402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C2430E77-F29A-F174-841C-4315AD667400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Desenvolvimento Produtivo e Territorial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(Samantha Cunha)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31" name="Retângulo: Cantos Diagonais Arredondados 30">
              <a:extLst>
                <a:ext uri="{FF2B5EF4-FFF2-40B4-BE49-F238E27FC236}">
                  <a16:creationId xmlns:a16="http://schemas.microsoft.com/office/drawing/2014/main" id="{EA32E9D3-EEC8-2EF6-01D8-E6DADF195A91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11</a:t>
              </a:r>
            </a:p>
          </p:txBody>
        </p:sp>
      </p:grpSp>
      <p:cxnSp>
        <p:nvCxnSpPr>
          <p:cNvPr id="32" name="Conector reto 165">
            <a:extLst>
              <a:ext uri="{FF2B5EF4-FFF2-40B4-BE49-F238E27FC236}">
                <a16:creationId xmlns:a16="http://schemas.microsoft.com/office/drawing/2014/main" id="{5D2FC6E7-7D5E-A24F-3B82-1DCBAFFCA286}"/>
              </a:ext>
            </a:extLst>
          </p:cNvPr>
          <p:cNvCxnSpPr>
            <a:cxnSpLocks/>
            <a:stCxn id="21" idx="1"/>
            <a:endCxn id="27" idx="1"/>
          </p:cNvCxnSpPr>
          <p:nvPr/>
        </p:nvCxnSpPr>
        <p:spPr>
          <a:xfrm rot="10800000" flipH="1" flipV="1">
            <a:off x="5021556" y="3439833"/>
            <a:ext cx="271089" cy="829918"/>
          </a:xfrm>
          <a:prstGeom prst="bentConnector3">
            <a:avLst>
              <a:gd name="adj1" fmla="val -843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ector reto 167">
            <a:extLst>
              <a:ext uri="{FF2B5EF4-FFF2-40B4-BE49-F238E27FC236}">
                <a16:creationId xmlns:a16="http://schemas.microsoft.com/office/drawing/2014/main" id="{C27A1F26-F6E7-1782-3449-848104597D49}"/>
              </a:ext>
            </a:extLst>
          </p:cNvPr>
          <p:cNvCxnSpPr>
            <a:cxnSpLocks/>
            <a:stCxn id="21" idx="1"/>
            <a:endCxn id="30" idx="1"/>
          </p:cNvCxnSpPr>
          <p:nvPr/>
        </p:nvCxnSpPr>
        <p:spPr>
          <a:xfrm rot="10800000" flipH="1" flipV="1">
            <a:off x="5021556" y="3439833"/>
            <a:ext cx="260029" cy="1551226"/>
          </a:xfrm>
          <a:prstGeom prst="bentConnector3">
            <a:avLst>
              <a:gd name="adj1" fmla="val -8791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8516D816-72DB-B8F9-6C14-A02701452A79}"/>
              </a:ext>
            </a:extLst>
          </p:cNvPr>
          <p:cNvGrpSpPr/>
          <p:nvPr/>
        </p:nvGrpSpPr>
        <p:grpSpPr>
          <a:xfrm>
            <a:off x="5292643" y="5408508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9E1C6378-92BE-F29A-3A31-E5AF71EC947B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Programas Estratégicos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(Marco Antônio de Oliveira)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37" name="Retângulo: Cantos Diagonais Arredondados 36">
              <a:extLst>
                <a:ext uri="{FF2B5EF4-FFF2-40B4-BE49-F238E27FC236}">
                  <a16:creationId xmlns:a16="http://schemas.microsoft.com/office/drawing/2014/main" id="{DC113C7B-F0A4-C26B-C77A-ABE00C8842BB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3</a:t>
              </a:r>
            </a:p>
          </p:txBody>
        </p:sp>
      </p:grpSp>
      <p:cxnSp>
        <p:nvCxnSpPr>
          <p:cNvPr id="170" name="Conector reto 167">
            <a:extLst>
              <a:ext uri="{FF2B5EF4-FFF2-40B4-BE49-F238E27FC236}">
                <a16:creationId xmlns:a16="http://schemas.microsoft.com/office/drawing/2014/main" id="{A90C98A9-2908-5AD9-692A-14A18D639120}"/>
              </a:ext>
            </a:extLst>
          </p:cNvPr>
          <p:cNvCxnSpPr>
            <a:cxnSpLocks/>
            <a:stCxn id="24" idx="1"/>
            <a:endCxn id="15" idx="1"/>
          </p:cNvCxnSpPr>
          <p:nvPr/>
        </p:nvCxnSpPr>
        <p:spPr>
          <a:xfrm rot="10800000" flipH="1" flipV="1">
            <a:off x="1847221" y="3433331"/>
            <a:ext cx="271086" cy="2283332"/>
          </a:xfrm>
          <a:prstGeom prst="bentConnector3">
            <a:avLst>
              <a:gd name="adj1" fmla="val -843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Conector reto 167">
            <a:extLst>
              <a:ext uri="{FF2B5EF4-FFF2-40B4-BE49-F238E27FC236}">
                <a16:creationId xmlns:a16="http://schemas.microsoft.com/office/drawing/2014/main" id="{342BD447-A555-5C7C-4790-AAA4D3B32F62}"/>
              </a:ext>
            </a:extLst>
          </p:cNvPr>
          <p:cNvCxnSpPr>
            <a:cxnSpLocks/>
            <a:stCxn id="24" idx="1"/>
            <a:endCxn id="18" idx="1"/>
          </p:cNvCxnSpPr>
          <p:nvPr/>
        </p:nvCxnSpPr>
        <p:spPr>
          <a:xfrm rot="10800000" flipH="1" flipV="1">
            <a:off x="1847221" y="3433330"/>
            <a:ext cx="260028" cy="3015439"/>
          </a:xfrm>
          <a:prstGeom prst="bentConnector3">
            <a:avLst>
              <a:gd name="adj1" fmla="val -8791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Conector reto 165">
            <a:extLst>
              <a:ext uri="{FF2B5EF4-FFF2-40B4-BE49-F238E27FC236}">
                <a16:creationId xmlns:a16="http://schemas.microsoft.com/office/drawing/2014/main" id="{0B80B6C4-7FBC-7A19-2340-6D1254D72743}"/>
              </a:ext>
            </a:extLst>
          </p:cNvPr>
          <p:cNvCxnSpPr>
            <a:cxnSpLocks/>
            <a:stCxn id="21" idx="1"/>
            <a:endCxn id="35" idx="1"/>
          </p:cNvCxnSpPr>
          <p:nvPr/>
        </p:nvCxnSpPr>
        <p:spPr>
          <a:xfrm rot="10800000" flipH="1" flipV="1">
            <a:off x="5021557" y="3439833"/>
            <a:ext cx="271086" cy="2283332"/>
          </a:xfrm>
          <a:prstGeom prst="bentConnector3">
            <a:avLst>
              <a:gd name="adj1" fmla="val -843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Conector reto 198">
            <a:extLst>
              <a:ext uri="{FF2B5EF4-FFF2-40B4-BE49-F238E27FC236}">
                <a16:creationId xmlns:a16="http://schemas.microsoft.com/office/drawing/2014/main" id="{63D9A6F7-D06D-B6E7-1FBB-045A173B6727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 rot="5400000">
            <a:off x="3842690" y="819230"/>
            <a:ext cx="1327292" cy="317932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Conector reto 199">
            <a:extLst>
              <a:ext uri="{FF2B5EF4-FFF2-40B4-BE49-F238E27FC236}">
                <a16:creationId xmlns:a16="http://schemas.microsoft.com/office/drawing/2014/main" id="{27F5BAF6-AD59-4D6A-92D0-01DBBECF0ABB}"/>
              </a:ext>
            </a:extLst>
          </p:cNvPr>
          <p:cNvCxnSpPr>
            <a:cxnSpLocks/>
            <a:stCxn id="9" idx="2"/>
            <a:endCxn id="21" idx="0"/>
          </p:cNvCxnSpPr>
          <p:nvPr/>
        </p:nvCxnSpPr>
        <p:spPr>
          <a:xfrm flipH="1">
            <a:off x="6091008" y="1745248"/>
            <a:ext cx="4992" cy="13337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7" name="Conector reto 216">
            <a:extLst>
              <a:ext uri="{FF2B5EF4-FFF2-40B4-BE49-F238E27FC236}">
                <a16:creationId xmlns:a16="http://schemas.microsoft.com/office/drawing/2014/main" id="{3E550F4F-6137-E326-0EDE-891C53CA6549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096000" y="1745248"/>
            <a:ext cx="0" cy="132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47386D-E997-3A47-4F07-8DFF9FA179FC}"/>
              </a:ext>
            </a:extLst>
          </p:cNvPr>
          <p:cNvSpPr txBox="1"/>
          <p:nvPr/>
        </p:nvSpPr>
        <p:spPr>
          <a:xfrm>
            <a:off x="11120398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sp>
        <p:nvSpPr>
          <p:cNvPr id="13" name="Retângulo: Cantos Diagonais Arredondados 12">
            <a:extLst>
              <a:ext uri="{FF2B5EF4-FFF2-40B4-BE49-F238E27FC236}">
                <a16:creationId xmlns:a16="http://schemas.microsoft.com/office/drawing/2014/main" id="{3F1FC0F6-8EA3-A0E0-F3B4-90C639431410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66</a:t>
            </a:r>
            <a:endParaRPr lang="pt-BR" sz="3200" b="1" dirty="0"/>
          </a:p>
        </p:txBody>
      </p:sp>
      <p:sp>
        <p:nvSpPr>
          <p:cNvPr id="3" name="Retângulo: Cantos Diagonais Arredondados 2">
            <a:extLst>
              <a:ext uri="{FF2B5EF4-FFF2-40B4-BE49-F238E27FC236}">
                <a16:creationId xmlns:a16="http://schemas.microsoft.com/office/drawing/2014/main" id="{F89C348E-D665-E7EB-C3A8-F0007186211A}"/>
              </a:ext>
            </a:extLst>
          </p:cNvPr>
          <p:cNvSpPr/>
          <p:nvPr/>
        </p:nvSpPr>
        <p:spPr>
          <a:xfrm>
            <a:off x="3463078" y="2771093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39</a:t>
            </a:r>
          </a:p>
        </p:txBody>
      </p:sp>
      <p:sp>
        <p:nvSpPr>
          <p:cNvPr id="36" name="Retângulo: Cantos Diagonais Arredondados 35">
            <a:extLst>
              <a:ext uri="{FF2B5EF4-FFF2-40B4-BE49-F238E27FC236}">
                <a16:creationId xmlns:a16="http://schemas.microsoft.com/office/drawing/2014/main" id="{55CC11FF-A0C1-E68A-0106-1AA7B21F982F}"/>
              </a:ext>
            </a:extLst>
          </p:cNvPr>
          <p:cNvSpPr/>
          <p:nvPr/>
        </p:nvSpPr>
        <p:spPr>
          <a:xfrm>
            <a:off x="6683262" y="2765234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2585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B072E-D103-5091-83C1-849A06DD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1F30F77-D4FA-24F1-B091-E6625036AF3E}"/>
              </a:ext>
            </a:extLst>
          </p:cNvPr>
          <p:cNvGrpSpPr/>
          <p:nvPr/>
        </p:nvGrpSpPr>
        <p:grpSpPr>
          <a:xfrm>
            <a:off x="4903176" y="1346746"/>
            <a:ext cx="2232914" cy="1066515"/>
            <a:chOff x="3546282" y="646041"/>
            <a:chExt cx="2138902" cy="10665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A807BAF-4D3D-367C-287D-86834AC63963}"/>
                </a:ext>
              </a:extLst>
            </p:cNvPr>
            <p:cNvSpPr/>
            <p:nvPr/>
          </p:nvSpPr>
          <p:spPr>
            <a:xfrm>
              <a:off x="3546282" y="646041"/>
              <a:ext cx="2138902" cy="1066515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solidFill>
                    <a:schemeClr val="tx1"/>
                  </a:solidFill>
                </a:rPr>
                <a:t>Diretoria de Comunicação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b="1" i="1" dirty="0">
                  <a:solidFill>
                    <a:schemeClr val="tx1"/>
                  </a:solidFill>
                </a:rPr>
                <a:t>(</a:t>
              </a:r>
              <a:r>
                <a:rPr lang="pt-BR" sz="1050" i="1" dirty="0">
                  <a:solidFill>
                    <a:schemeClr val="tx1"/>
                  </a:solidFill>
                </a:rPr>
                <a:t>André Nascimento Curvello)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tângulo: Cantos Diagonais Arredondados 9">
              <a:extLst>
                <a:ext uri="{FF2B5EF4-FFF2-40B4-BE49-F238E27FC236}">
                  <a16:creationId xmlns:a16="http://schemas.microsoft.com/office/drawing/2014/main" id="{F9BB0076-112E-95E8-1B66-C55AFEE9D067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4</a:t>
              </a:r>
            </a:p>
          </p:txBody>
        </p:sp>
      </p:grp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18DD9B31-6017-5D16-31FE-2E8BD1A0836E}"/>
              </a:ext>
            </a:extLst>
          </p:cNvPr>
          <p:cNvSpPr txBox="1"/>
          <p:nvPr/>
        </p:nvSpPr>
        <p:spPr>
          <a:xfrm>
            <a:off x="90941" y="34939"/>
            <a:ext cx="5344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Diretoria de Comunicação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CCD59063-24AF-6D39-1EC2-AC1A4F85017D}"/>
              </a:ext>
            </a:extLst>
          </p:cNvPr>
          <p:cNvGrpSpPr/>
          <p:nvPr/>
        </p:nvGrpSpPr>
        <p:grpSpPr>
          <a:xfrm>
            <a:off x="303293" y="270741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53C3C849-DC26-323E-9BBF-65B3D4A469B9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Jornalismo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(Rafael Monaco)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tângulo: Cantos Diagonais Arredondados 24">
              <a:extLst>
                <a:ext uri="{FF2B5EF4-FFF2-40B4-BE49-F238E27FC236}">
                  <a16:creationId xmlns:a16="http://schemas.microsoft.com/office/drawing/2014/main" id="{77E269FA-6D96-C477-BE68-4CB9DA237AC1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3F488C51-B7A5-8B13-1172-5502EB655579}"/>
              </a:ext>
            </a:extLst>
          </p:cNvPr>
          <p:cNvGrpSpPr/>
          <p:nvPr/>
        </p:nvGrpSpPr>
        <p:grpSpPr>
          <a:xfrm>
            <a:off x="2595577" y="270741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35345041-EE56-7EF0-CE35-E85CDB8CE153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Publicidade e Mídias Sociais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(Mariana Flores)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0" name="Retângulo: Cantos Diagonais Arredondados 39">
              <a:extLst>
                <a:ext uri="{FF2B5EF4-FFF2-40B4-BE49-F238E27FC236}">
                  <a16:creationId xmlns:a16="http://schemas.microsoft.com/office/drawing/2014/main" id="{133270A8-99C6-C83B-BCE3-F5BFBBDC39E3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6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374AD485-B43C-8F6D-B684-290B72EF3D2D}"/>
              </a:ext>
            </a:extLst>
          </p:cNvPr>
          <p:cNvGrpSpPr/>
          <p:nvPr/>
        </p:nvGrpSpPr>
        <p:grpSpPr>
          <a:xfrm>
            <a:off x="4951470" y="270741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2AE1EEAA-2DCF-B149-DDBE-E6E9F354AF30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Projetos Digitais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(Patrícia </a:t>
              </a:r>
              <a:r>
                <a:rPr lang="pt-BR" sz="1050" i="1" dirty="0" err="1">
                  <a:solidFill>
                    <a:schemeClr val="tx1"/>
                  </a:solidFill>
                </a:rPr>
                <a:t>Gresta</a:t>
              </a:r>
              <a:r>
                <a:rPr lang="pt-BR" sz="1050" i="1" dirty="0">
                  <a:solidFill>
                    <a:schemeClr val="tx1"/>
                  </a:solidFill>
                </a:rPr>
                <a:t>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5" name="Retângulo: Cantos Diagonais Arredondados 44">
              <a:extLst>
                <a:ext uri="{FF2B5EF4-FFF2-40B4-BE49-F238E27FC236}">
                  <a16:creationId xmlns:a16="http://schemas.microsoft.com/office/drawing/2014/main" id="{65C2B6A1-0B6F-9022-8E8B-DFD457036E83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</a:t>
              </a: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E6CED683-C57C-AADF-4488-B92A1B5BBC10}"/>
              </a:ext>
            </a:extLst>
          </p:cNvPr>
          <p:cNvGrpSpPr/>
          <p:nvPr/>
        </p:nvGrpSpPr>
        <p:grpSpPr>
          <a:xfrm>
            <a:off x="574382" y="358347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FCFC7FDA-5695-6777-D113-243EDA694AB1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Imprensa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55" name="Retângulo: Cantos Diagonais Arredondados 54">
              <a:extLst>
                <a:ext uri="{FF2B5EF4-FFF2-40B4-BE49-F238E27FC236}">
                  <a16:creationId xmlns:a16="http://schemas.microsoft.com/office/drawing/2014/main" id="{87A47D33-2FAD-4CDC-E5C7-61FE5082F0CC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4</a:t>
              </a:r>
            </a:p>
          </p:txBody>
        </p:sp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66A9FFB4-059C-E352-E6DC-397F153BFF7F}"/>
              </a:ext>
            </a:extLst>
          </p:cNvPr>
          <p:cNvGrpSpPr/>
          <p:nvPr/>
        </p:nvGrpSpPr>
        <p:grpSpPr>
          <a:xfrm>
            <a:off x="574381" y="435671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9" name="Retângulo: Cantos Arredondados 138">
              <a:extLst>
                <a:ext uri="{FF2B5EF4-FFF2-40B4-BE49-F238E27FC236}">
                  <a16:creationId xmlns:a16="http://schemas.microsoft.com/office/drawing/2014/main" id="{7F6E221D-7643-B5C5-6DF8-8A81C98BB5F4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de Conteúdos Multimidia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(Letícia </a:t>
              </a:r>
              <a:r>
                <a:rPr lang="pt-BR" sz="900" i="1" dirty="0" err="1">
                  <a:solidFill>
                    <a:schemeClr val="tx1"/>
                  </a:solidFill>
                </a:rPr>
                <a:t>Luvison</a:t>
              </a:r>
              <a:r>
                <a:rPr lang="pt-BR" sz="900" i="1" dirty="0">
                  <a:solidFill>
                    <a:schemeClr val="tx1"/>
                  </a:solidFill>
                </a:rPr>
                <a:t>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0" name="Retângulo: Cantos Diagonais Arredondados 139">
              <a:extLst>
                <a:ext uri="{FF2B5EF4-FFF2-40B4-BE49-F238E27FC236}">
                  <a16:creationId xmlns:a16="http://schemas.microsoft.com/office/drawing/2014/main" id="{7EF74C46-815B-46DD-2724-2F0C2FBB1937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9</a:t>
              </a:r>
            </a:p>
          </p:txBody>
        </p:sp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A9F34A47-CB58-64D1-ABEF-1C13E5342B46}"/>
              </a:ext>
            </a:extLst>
          </p:cNvPr>
          <p:cNvGrpSpPr/>
          <p:nvPr/>
        </p:nvGrpSpPr>
        <p:grpSpPr>
          <a:xfrm>
            <a:off x="2866666" y="358347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2" name="Retângulo: Cantos Arredondados 141">
              <a:extLst>
                <a:ext uri="{FF2B5EF4-FFF2-40B4-BE49-F238E27FC236}">
                  <a16:creationId xmlns:a16="http://schemas.microsoft.com/office/drawing/2014/main" id="{62BDC7F7-0987-9ECC-6907-F5D94023720C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Estratégia de Publicidade 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Mídias Sociais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3" name="Retângulo: Cantos Diagonais Arredondados 142">
              <a:extLst>
                <a:ext uri="{FF2B5EF4-FFF2-40B4-BE49-F238E27FC236}">
                  <a16:creationId xmlns:a16="http://schemas.microsoft.com/office/drawing/2014/main" id="{812BDAFA-A77C-3BCB-1074-B2111C2D6053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9</a:t>
              </a:r>
            </a:p>
          </p:txBody>
        </p:sp>
      </p:grp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1BD10FAA-3713-74FB-FA1F-FEF330C1BFD2}"/>
              </a:ext>
            </a:extLst>
          </p:cNvPr>
          <p:cNvGrpSpPr/>
          <p:nvPr/>
        </p:nvGrpSpPr>
        <p:grpSpPr>
          <a:xfrm>
            <a:off x="2866666" y="4356711"/>
            <a:ext cx="1867813" cy="773240"/>
            <a:chOff x="3546281" y="646041"/>
            <a:chExt cx="1798620" cy="7732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5" name="Retângulo: Cantos Arredondados 144">
              <a:extLst>
                <a:ext uri="{FF2B5EF4-FFF2-40B4-BE49-F238E27FC236}">
                  <a16:creationId xmlns:a16="http://schemas.microsoft.com/office/drawing/2014/main" id="{A9D118A4-C331-0EA4-959B-9244FB61BD56}"/>
                </a:ext>
              </a:extLst>
            </p:cNvPr>
            <p:cNvSpPr/>
            <p:nvPr/>
          </p:nvSpPr>
          <p:spPr>
            <a:xfrm>
              <a:off x="3546281" y="646042"/>
              <a:ext cx="1798619" cy="773239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Criação de Publicidades e Mídias Sociais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(Joana </a:t>
              </a:r>
              <a:r>
                <a:rPr lang="pt-BR" sz="900" i="1" dirty="0" err="1">
                  <a:solidFill>
                    <a:schemeClr val="tx1"/>
                  </a:solidFill>
                </a:rPr>
                <a:t>Pericas</a:t>
              </a:r>
              <a:r>
                <a:rPr lang="pt-BR" sz="900" i="1" dirty="0">
                  <a:solidFill>
                    <a:schemeClr val="tx1"/>
                  </a:solidFill>
                </a:rPr>
                <a:t>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6" name="Retângulo: Cantos Diagonais Arredondados 145">
              <a:extLst>
                <a:ext uri="{FF2B5EF4-FFF2-40B4-BE49-F238E27FC236}">
                  <a16:creationId xmlns:a16="http://schemas.microsoft.com/office/drawing/2014/main" id="{F8FE7C7F-3537-5AC2-848A-A232CD47CBBC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15</a:t>
              </a:r>
            </a:p>
          </p:txBody>
        </p:sp>
      </p:grp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CAA3E36F-0BB0-EDB6-758C-E1E6CBC85662}"/>
              </a:ext>
            </a:extLst>
          </p:cNvPr>
          <p:cNvGrpSpPr/>
          <p:nvPr/>
        </p:nvGrpSpPr>
        <p:grpSpPr>
          <a:xfrm>
            <a:off x="5222558" y="358347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8" name="Retângulo: Cantos Arredondados 147">
              <a:extLst>
                <a:ext uri="{FF2B5EF4-FFF2-40B4-BE49-F238E27FC236}">
                  <a16:creationId xmlns:a16="http://schemas.microsoft.com/office/drawing/2014/main" id="{F486DBB3-35A2-D9A8-5614-C790B1C04F18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Projetos Digitais e Perfomance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(Cristiano </a:t>
              </a:r>
              <a:r>
                <a:rPr lang="pt-BR" sz="900" i="1" dirty="0" err="1">
                  <a:solidFill>
                    <a:schemeClr val="tx1"/>
                  </a:solidFill>
                </a:rPr>
                <a:t>Zannini</a:t>
              </a:r>
              <a:r>
                <a:rPr lang="pt-BR" sz="900" i="1" dirty="0">
                  <a:solidFill>
                    <a:schemeClr val="tx1"/>
                  </a:solidFill>
                </a:rPr>
                <a:t>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9" name="Retângulo: Cantos Diagonais Arredondados 148">
              <a:extLst>
                <a:ext uri="{FF2B5EF4-FFF2-40B4-BE49-F238E27FC236}">
                  <a16:creationId xmlns:a16="http://schemas.microsoft.com/office/drawing/2014/main" id="{DBA497FE-87B9-4617-ADCE-F73652AF9843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9</a:t>
              </a:r>
            </a:p>
          </p:txBody>
        </p:sp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B784E0D4-830B-A345-7E1C-99F0AE33C1F6}"/>
              </a:ext>
            </a:extLst>
          </p:cNvPr>
          <p:cNvGrpSpPr/>
          <p:nvPr/>
        </p:nvGrpSpPr>
        <p:grpSpPr>
          <a:xfrm>
            <a:off x="7451231" y="3583471"/>
            <a:ext cx="1867813" cy="773240"/>
            <a:chOff x="3546281" y="646041"/>
            <a:chExt cx="1798620" cy="7732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1" name="Retângulo: Cantos Arredondados 150">
              <a:extLst>
                <a:ext uri="{FF2B5EF4-FFF2-40B4-BE49-F238E27FC236}">
                  <a16:creationId xmlns:a16="http://schemas.microsoft.com/office/drawing/2014/main" id="{E4CB50E3-6AFD-7043-E527-1998955E7408}"/>
                </a:ext>
              </a:extLst>
            </p:cNvPr>
            <p:cNvSpPr/>
            <p:nvPr/>
          </p:nvSpPr>
          <p:spPr>
            <a:xfrm>
              <a:off x="3546281" y="646042"/>
              <a:ext cx="1798619" cy="773239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Comuni. Integrada, Planejamento e Inteligência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(Guilherme Amorim)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52" name="Retângulo: Cantos Diagonais Arredondados 151">
              <a:extLst>
                <a:ext uri="{FF2B5EF4-FFF2-40B4-BE49-F238E27FC236}">
                  <a16:creationId xmlns:a16="http://schemas.microsoft.com/office/drawing/2014/main" id="{55DCDCBA-8008-AAFA-7A35-778D0E66AABA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11</a:t>
              </a:r>
            </a:p>
          </p:txBody>
        </p:sp>
      </p:grpSp>
      <p:cxnSp>
        <p:nvCxnSpPr>
          <p:cNvPr id="166" name="Conector reto 165">
            <a:extLst>
              <a:ext uri="{FF2B5EF4-FFF2-40B4-BE49-F238E27FC236}">
                <a16:creationId xmlns:a16="http://schemas.microsoft.com/office/drawing/2014/main" id="{42CB1BA7-44B5-41F3-8982-14667014AB5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98425" y="3057940"/>
            <a:ext cx="271089" cy="829918"/>
          </a:xfrm>
          <a:prstGeom prst="bentConnector3">
            <a:avLst>
              <a:gd name="adj1" fmla="val -356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Conector reto 167">
            <a:extLst>
              <a:ext uri="{FF2B5EF4-FFF2-40B4-BE49-F238E27FC236}">
                <a16:creationId xmlns:a16="http://schemas.microsoft.com/office/drawing/2014/main" id="{8FC27024-CBC3-75AA-EBD3-6FA7196CB456}"/>
              </a:ext>
            </a:extLst>
          </p:cNvPr>
          <p:cNvCxnSpPr>
            <a:cxnSpLocks/>
            <a:stCxn id="24" idx="1"/>
            <a:endCxn id="139" idx="1"/>
          </p:cNvCxnSpPr>
          <p:nvPr/>
        </p:nvCxnSpPr>
        <p:spPr>
          <a:xfrm rot="10800000" flipH="1" flipV="1">
            <a:off x="303293" y="3068210"/>
            <a:ext cx="271088" cy="1603158"/>
          </a:xfrm>
          <a:prstGeom prst="bentConnector3">
            <a:avLst>
              <a:gd name="adj1" fmla="val -3564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Conector reto 167">
            <a:extLst>
              <a:ext uri="{FF2B5EF4-FFF2-40B4-BE49-F238E27FC236}">
                <a16:creationId xmlns:a16="http://schemas.microsoft.com/office/drawing/2014/main" id="{EC45FBD0-7440-B501-1D70-D21E6C16790E}"/>
              </a:ext>
            </a:extLst>
          </p:cNvPr>
          <p:cNvCxnSpPr>
            <a:cxnSpLocks/>
            <a:stCxn id="39" idx="1"/>
            <a:endCxn id="142" idx="1"/>
          </p:cNvCxnSpPr>
          <p:nvPr/>
        </p:nvCxnSpPr>
        <p:spPr>
          <a:xfrm rot="10800000" flipH="1" flipV="1">
            <a:off x="2595576" y="3068210"/>
            <a:ext cx="271089" cy="829918"/>
          </a:xfrm>
          <a:prstGeom prst="bentConnector3">
            <a:avLst>
              <a:gd name="adj1" fmla="val -2868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Conector reto 167">
            <a:extLst>
              <a:ext uri="{FF2B5EF4-FFF2-40B4-BE49-F238E27FC236}">
                <a16:creationId xmlns:a16="http://schemas.microsoft.com/office/drawing/2014/main" id="{FD4115BB-F4DD-4357-86A9-D0AFF2CFBC1F}"/>
              </a:ext>
            </a:extLst>
          </p:cNvPr>
          <p:cNvCxnSpPr>
            <a:cxnSpLocks/>
            <a:stCxn id="43" idx="1"/>
            <a:endCxn id="148" idx="1"/>
          </p:cNvCxnSpPr>
          <p:nvPr/>
        </p:nvCxnSpPr>
        <p:spPr>
          <a:xfrm rot="10800000" flipH="1" flipV="1">
            <a:off x="4951470" y="3068210"/>
            <a:ext cx="271088" cy="829918"/>
          </a:xfrm>
          <a:prstGeom prst="bentConnector3">
            <a:avLst>
              <a:gd name="adj1" fmla="val -3216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Conector reto 167">
            <a:extLst>
              <a:ext uri="{FF2B5EF4-FFF2-40B4-BE49-F238E27FC236}">
                <a16:creationId xmlns:a16="http://schemas.microsoft.com/office/drawing/2014/main" id="{74C03E14-8F8C-B352-D35E-768F27C3A287}"/>
              </a:ext>
            </a:extLst>
          </p:cNvPr>
          <p:cNvCxnSpPr>
            <a:cxnSpLocks/>
            <a:stCxn id="9" idx="2"/>
            <a:endCxn id="151" idx="0"/>
          </p:cNvCxnSpPr>
          <p:nvPr/>
        </p:nvCxnSpPr>
        <p:spPr>
          <a:xfrm rot="16200000" flipH="1">
            <a:off x="6617280" y="1815614"/>
            <a:ext cx="1170211" cy="2365504"/>
          </a:xfrm>
          <a:prstGeom prst="bentConnector3">
            <a:avLst>
              <a:gd name="adj1" fmla="val 1194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Conector reto 167">
            <a:extLst>
              <a:ext uri="{FF2B5EF4-FFF2-40B4-BE49-F238E27FC236}">
                <a16:creationId xmlns:a16="http://schemas.microsoft.com/office/drawing/2014/main" id="{4C2B714B-B77F-F5F3-689E-C111754A97DB}"/>
              </a:ext>
            </a:extLst>
          </p:cNvPr>
          <p:cNvCxnSpPr>
            <a:cxnSpLocks/>
            <a:stCxn id="39" idx="1"/>
            <a:endCxn id="145" idx="1"/>
          </p:cNvCxnSpPr>
          <p:nvPr/>
        </p:nvCxnSpPr>
        <p:spPr>
          <a:xfrm rot="10800000" flipH="1" flipV="1">
            <a:off x="2595576" y="3068210"/>
            <a:ext cx="271089" cy="1675122"/>
          </a:xfrm>
          <a:prstGeom prst="bentConnector3">
            <a:avLst>
              <a:gd name="adj1" fmla="val -2868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Conector reto 217">
            <a:extLst>
              <a:ext uri="{FF2B5EF4-FFF2-40B4-BE49-F238E27FC236}">
                <a16:creationId xmlns:a16="http://schemas.microsoft.com/office/drawing/2014/main" id="{0B8D5E4D-2CD4-4ACE-2E13-7288C32B693C}"/>
              </a:ext>
            </a:extLst>
          </p:cNvPr>
          <p:cNvCxnSpPr>
            <a:cxnSpLocks/>
            <a:stCxn id="9" idx="2"/>
            <a:endCxn id="43" idx="0"/>
          </p:cNvCxnSpPr>
          <p:nvPr/>
        </p:nvCxnSpPr>
        <p:spPr>
          <a:xfrm>
            <a:off x="6019633" y="2413261"/>
            <a:ext cx="1288" cy="294158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Conector reto 217">
            <a:extLst>
              <a:ext uri="{FF2B5EF4-FFF2-40B4-BE49-F238E27FC236}">
                <a16:creationId xmlns:a16="http://schemas.microsoft.com/office/drawing/2014/main" id="{F8271A3B-7EBE-0BD3-0F06-B0046FAA48D0}"/>
              </a:ext>
            </a:extLst>
          </p:cNvPr>
          <p:cNvCxnSpPr>
            <a:cxnSpLocks/>
            <a:stCxn id="9" idx="2"/>
            <a:endCxn id="39" idx="0"/>
          </p:cNvCxnSpPr>
          <p:nvPr/>
        </p:nvCxnSpPr>
        <p:spPr>
          <a:xfrm rot="5400000">
            <a:off x="4695252" y="1383038"/>
            <a:ext cx="294158" cy="235460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Conector reto 217">
            <a:extLst>
              <a:ext uri="{FF2B5EF4-FFF2-40B4-BE49-F238E27FC236}">
                <a16:creationId xmlns:a16="http://schemas.microsoft.com/office/drawing/2014/main" id="{ED5624C4-95CC-AF36-C2F2-D868852AFB5C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 rot="5400000">
            <a:off x="3549110" y="236896"/>
            <a:ext cx="294158" cy="464688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9F9A3E1-BF0F-0EFC-8DC3-612AF84DB44B}"/>
              </a:ext>
            </a:extLst>
          </p:cNvPr>
          <p:cNvGrpSpPr/>
          <p:nvPr/>
        </p:nvGrpSpPr>
        <p:grpSpPr>
          <a:xfrm>
            <a:off x="9634184" y="3573202"/>
            <a:ext cx="1867813" cy="783509"/>
            <a:chOff x="3546281" y="646041"/>
            <a:chExt cx="1798620" cy="7835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F973AC83-AFF0-F913-69F9-DAB5E79F5878}"/>
                </a:ext>
              </a:extLst>
            </p:cNvPr>
            <p:cNvSpPr/>
            <p:nvPr/>
          </p:nvSpPr>
          <p:spPr>
            <a:xfrm>
              <a:off x="3546281" y="646042"/>
              <a:ext cx="1798619" cy="783508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Comuni. Interna e Externa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(Alessandra </a:t>
              </a:r>
              <a:r>
                <a:rPr lang="pt-BR" sz="900" i="1" dirty="0" err="1">
                  <a:solidFill>
                    <a:schemeClr val="tx1"/>
                  </a:solidFill>
                </a:rPr>
                <a:t>Glerian</a:t>
              </a:r>
              <a:r>
                <a:rPr lang="pt-BR" sz="900" i="1" dirty="0">
                  <a:solidFill>
                    <a:schemeClr val="tx1"/>
                  </a:solidFill>
                </a:rPr>
                <a:t>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6" name="Retângulo: Cantos Diagonais Arredondados 5">
              <a:extLst>
                <a:ext uri="{FF2B5EF4-FFF2-40B4-BE49-F238E27FC236}">
                  <a16:creationId xmlns:a16="http://schemas.microsoft.com/office/drawing/2014/main" id="{5611DF94-01E0-D024-4805-26D84A7D95E6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11</a:t>
              </a:r>
            </a:p>
          </p:txBody>
        </p:sp>
      </p:grpSp>
      <p:cxnSp>
        <p:nvCxnSpPr>
          <p:cNvPr id="7" name="Conector reto 167">
            <a:extLst>
              <a:ext uri="{FF2B5EF4-FFF2-40B4-BE49-F238E27FC236}">
                <a16:creationId xmlns:a16="http://schemas.microsoft.com/office/drawing/2014/main" id="{A3992126-1F9A-71AB-904A-544F12DE8EDB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 rot="16200000" flipH="1">
            <a:off x="7713890" y="719003"/>
            <a:ext cx="1159942" cy="4548457"/>
          </a:xfrm>
          <a:prstGeom prst="bentConnector3">
            <a:avLst>
              <a:gd name="adj1" fmla="val 1161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94F1BE2-3766-A6B7-8D2A-D0044AEDB89F}"/>
              </a:ext>
            </a:extLst>
          </p:cNvPr>
          <p:cNvGrpSpPr/>
          <p:nvPr/>
        </p:nvGrpSpPr>
        <p:grpSpPr>
          <a:xfrm>
            <a:off x="5222558" y="435671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4EA7940C-E5DE-2EB5-726D-120FA7683ACB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Planejamento de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Conteúdo Digital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(Thiago Santos)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tângulo: Cantos Diagonais Arredondados 17">
              <a:extLst>
                <a:ext uri="{FF2B5EF4-FFF2-40B4-BE49-F238E27FC236}">
                  <a16:creationId xmlns:a16="http://schemas.microsoft.com/office/drawing/2014/main" id="{508DAA27-8845-C965-DE72-6DE0840BE323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11</a:t>
              </a:r>
            </a:p>
          </p:txBody>
        </p:sp>
      </p:grpSp>
      <p:cxnSp>
        <p:nvCxnSpPr>
          <p:cNvPr id="22" name="Conector reto 167">
            <a:extLst>
              <a:ext uri="{FF2B5EF4-FFF2-40B4-BE49-F238E27FC236}">
                <a16:creationId xmlns:a16="http://schemas.microsoft.com/office/drawing/2014/main" id="{31B5EC85-E757-1C2F-2A5E-D68B84869401}"/>
              </a:ext>
            </a:extLst>
          </p:cNvPr>
          <p:cNvCxnSpPr>
            <a:cxnSpLocks/>
            <a:stCxn id="43" idx="1"/>
            <a:endCxn id="17" idx="1"/>
          </p:cNvCxnSpPr>
          <p:nvPr/>
        </p:nvCxnSpPr>
        <p:spPr>
          <a:xfrm rot="10800000" flipH="1" flipV="1">
            <a:off x="4951470" y="3068210"/>
            <a:ext cx="271088" cy="1603158"/>
          </a:xfrm>
          <a:prstGeom prst="bentConnector3">
            <a:avLst>
              <a:gd name="adj1" fmla="val -3216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7F3E89-C0B4-4ED6-1512-71072B827D6C}"/>
              </a:ext>
            </a:extLst>
          </p:cNvPr>
          <p:cNvSpPr txBox="1"/>
          <p:nvPr/>
        </p:nvSpPr>
        <p:spPr>
          <a:xfrm>
            <a:off x="11120398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sp>
        <p:nvSpPr>
          <p:cNvPr id="12" name="Retângulo: Cantos Diagonais Arredondados 11">
            <a:extLst>
              <a:ext uri="{FF2B5EF4-FFF2-40B4-BE49-F238E27FC236}">
                <a16:creationId xmlns:a16="http://schemas.microsoft.com/office/drawing/2014/main" id="{073D4DAC-6436-34EC-0856-FD056DEEA84A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91</a:t>
            </a:r>
            <a:endParaRPr lang="pt-BR" sz="3200" b="1" dirty="0"/>
          </a:p>
        </p:txBody>
      </p:sp>
      <p:sp>
        <p:nvSpPr>
          <p:cNvPr id="8" name="Retângulo: Cantos Diagonais Arredondados 7">
            <a:extLst>
              <a:ext uri="{FF2B5EF4-FFF2-40B4-BE49-F238E27FC236}">
                <a16:creationId xmlns:a16="http://schemas.microsoft.com/office/drawing/2014/main" id="{D9C53060-4387-D976-714D-C616B64AAE35}"/>
              </a:ext>
            </a:extLst>
          </p:cNvPr>
          <p:cNvSpPr/>
          <p:nvPr/>
        </p:nvSpPr>
        <p:spPr>
          <a:xfrm>
            <a:off x="1930952" y="2426719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14</a:t>
            </a:r>
          </a:p>
        </p:txBody>
      </p:sp>
      <p:sp>
        <p:nvSpPr>
          <p:cNvPr id="13" name="Retângulo: Cantos Diagonais Arredondados 12">
            <a:extLst>
              <a:ext uri="{FF2B5EF4-FFF2-40B4-BE49-F238E27FC236}">
                <a16:creationId xmlns:a16="http://schemas.microsoft.com/office/drawing/2014/main" id="{09E753B3-636E-964E-C32B-9D4C3DA8A0E9}"/>
              </a:ext>
            </a:extLst>
          </p:cNvPr>
          <p:cNvSpPr/>
          <p:nvPr/>
        </p:nvSpPr>
        <p:spPr>
          <a:xfrm>
            <a:off x="4230544" y="2400702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30</a:t>
            </a:r>
          </a:p>
        </p:txBody>
      </p:sp>
      <p:sp>
        <p:nvSpPr>
          <p:cNvPr id="14" name="Retângulo: Cantos Diagonais Arredondados 13">
            <a:extLst>
              <a:ext uri="{FF2B5EF4-FFF2-40B4-BE49-F238E27FC236}">
                <a16:creationId xmlns:a16="http://schemas.microsoft.com/office/drawing/2014/main" id="{FB5D8EEF-AB24-6FCD-353F-8153F015CA7B}"/>
              </a:ext>
            </a:extLst>
          </p:cNvPr>
          <p:cNvSpPr/>
          <p:nvPr/>
        </p:nvSpPr>
        <p:spPr>
          <a:xfrm>
            <a:off x="6599787" y="2413259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29659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95C9D-3139-AFC8-59F6-3B9FA592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692A1D8-2698-E517-9359-C39CDABA3B85}"/>
              </a:ext>
            </a:extLst>
          </p:cNvPr>
          <p:cNvGrpSpPr/>
          <p:nvPr/>
        </p:nvGrpSpPr>
        <p:grpSpPr>
          <a:xfrm>
            <a:off x="4903176" y="711502"/>
            <a:ext cx="2232914" cy="1079188"/>
            <a:chOff x="3546282" y="10797"/>
            <a:chExt cx="2138902" cy="10791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F0ADCC6-6373-14A6-96C2-4C01D6F8D8A3}"/>
                </a:ext>
              </a:extLst>
            </p:cNvPr>
            <p:cNvSpPr/>
            <p:nvPr/>
          </p:nvSpPr>
          <p:spPr>
            <a:xfrm>
              <a:off x="3546282" y="23470"/>
              <a:ext cx="2138902" cy="1066515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solidFill>
                    <a:schemeClr val="tx1"/>
                  </a:solidFill>
                </a:rPr>
                <a:t>Diretoria Corporativa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(Cid Vianna)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tângulo: Cantos Diagonais Arredondados 9">
              <a:extLst>
                <a:ext uri="{FF2B5EF4-FFF2-40B4-BE49-F238E27FC236}">
                  <a16:creationId xmlns:a16="http://schemas.microsoft.com/office/drawing/2014/main" id="{2A5E1EBD-00AE-7D24-0766-4422464A0E2F}"/>
                </a:ext>
              </a:extLst>
            </p:cNvPr>
            <p:cNvSpPr/>
            <p:nvPr/>
          </p:nvSpPr>
          <p:spPr>
            <a:xfrm>
              <a:off x="5198740" y="10797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A20233AF-1214-75AD-DDF5-A391E94D7880}"/>
              </a:ext>
            </a:extLst>
          </p:cNvPr>
          <p:cNvSpPr txBox="1"/>
          <p:nvPr/>
        </p:nvSpPr>
        <p:spPr>
          <a:xfrm>
            <a:off x="90941" y="34939"/>
            <a:ext cx="4324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Diretoria Corporativa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D59CD7B-15FB-C45A-BC11-66FB87930D4B}"/>
              </a:ext>
            </a:extLst>
          </p:cNvPr>
          <p:cNvGrpSpPr/>
          <p:nvPr/>
        </p:nvGrpSpPr>
        <p:grpSpPr>
          <a:xfrm>
            <a:off x="303293" y="270741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3AB84E9A-E749-70DA-27FB-FCB84C05EDA9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Finanças e Contabilidade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(Lucineide Aguiar)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tângulo: Cantos Diagonais Arredondados 24">
              <a:extLst>
                <a:ext uri="{FF2B5EF4-FFF2-40B4-BE49-F238E27FC236}">
                  <a16:creationId xmlns:a16="http://schemas.microsoft.com/office/drawing/2014/main" id="{DEDC460A-1D00-E056-2A01-866AAC68F061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2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157EFEC8-72EB-1B4D-4D0B-A5734CDDE51F}"/>
              </a:ext>
            </a:extLst>
          </p:cNvPr>
          <p:cNvGrpSpPr/>
          <p:nvPr/>
        </p:nvGrpSpPr>
        <p:grpSpPr>
          <a:xfrm>
            <a:off x="2595577" y="270741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1EAF714A-F5C3-0544-AF4F-BBD02D3239BD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Tecnologia da Informação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(Fabio Duarte)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0" name="Retângulo: Cantos Diagonais Arredondados 39">
              <a:extLst>
                <a:ext uri="{FF2B5EF4-FFF2-40B4-BE49-F238E27FC236}">
                  <a16:creationId xmlns:a16="http://schemas.microsoft.com/office/drawing/2014/main" id="{58242DF4-42F4-74FD-FB3B-65163B3B6799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9808DDD2-21D2-089F-A253-A59E9FFA20CC}"/>
              </a:ext>
            </a:extLst>
          </p:cNvPr>
          <p:cNvGrpSpPr/>
          <p:nvPr/>
        </p:nvGrpSpPr>
        <p:grpSpPr>
          <a:xfrm>
            <a:off x="4887861" y="270741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F3BD7B7E-5DC7-9F66-2D6B-61B44878C81D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Desenvolvimento Humano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(Flavia Morais)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5" name="Retângulo: Cantos Diagonais Arredondados 44">
              <a:extLst>
                <a:ext uri="{FF2B5EF4-FFF2-40B4-BE49-F238E27FC236}">
                  <a16:creationId xmlns:a16="http://schemas.microsoft.com/office/drawing/2014/main" id="{94A07564-A5C0-5260-336D-45C04D77111E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5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E91E42B8-6166-B548-CA31-11B520B3198A}"/>
              </a:ext>
            </a:extLst>
          </p:cNvPr>
          <p:cNvGrpSpPr/>
          <p:nvPr/>
        </p:nvGrpSpPr>
        <p:grpSpPr>
          <a:xfrm>
            <a:off x="7180145" y="270741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29AC0B1C-F89B-AE29-7365-16217C787877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Gestão Estratégica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(José Sampaio Filho)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tângulo: Cantos Diagonais Arredondados 48">
              <a:extLst>
                <a:ext uri="{FF2B5EF4-FFF2-40B4-BE49-F238E27FC236}">
                  <a16:creationId xmlns:a16="http://schemas.microsoft.com/office/drawing/2014/main" id="{714490E5-FBC4-F496-2AC7-B900E9285E2D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95A0374A-36C5-6061-53E1-40FE6CE741F2}"/>
              </a:ext>
            </a:extLst>
          </p:cNvPr>
          <p:cNvGrpSpPr/>
          <p:nvPr/>
        </p:nvGrpSpPr>
        <p:grpSpPr>
          <a:xfrm>
            <a:off x="9472429" y="270741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Retângulo: Cantos Arredondados 50">
              <a:extLst>
                <a:ext uri="{FF2B5EF4-FFF2-40B4-BE49-F238E27FC236}">
                  <a16:creationId xmlns:a16="http://schemas.microsoft.com/office/drawing/2014/main" id="{3B55DD3B-3B1E-4584-3BBA-994AC78AEFE3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Operações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(Alberico Amorim)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52" name="Retângulo: Cantos Diagonais Arredondados 51">
              <a:extLst>
                <a:ext uri="{FF2B5EF4-FFF2-40B4-BE49-F238E27FC236}">
                  <a16:creationId xmlns:a16="http://schemas.microsoft.com/office/drawing/2014/main" id="{ED92E8AB-21D8-49FF-71CD-8E2F914CA9F4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8E5061E0-A34D-5EB0-EE2E-2B92FD1F8C65}"/>
              </a:ext>
            </a:extLst>
          </p:cNvPr>
          <p:cNvGrpSpPr/>
          <p:nvPr/>
        </p:nvGrpSpPr>
        <p:grpSpPr>
          <a:xfrm>
            <a:off x="574382" y="358347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3047A670-2E97-5A05-09DC-693422598860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Operações Financeiras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(Luciana Sarkis)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55" name="Retângulo: Cantos Diagonais Arredondados 54">
              <a:extLst>
                <a:ext uri="{FF2B5EF4-FFF2-40B4-BE49-F238E27FC236}">
                  <a16:creationId xmlns:a16="http://schemas.microsoft.com/office/drawing/2014/main" id="{64CCF616-0539-2E08-CB66-BB11D141DF76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14</a:t>
              </a:r>
            </a:p>
          </p:txBody>
        </p:sp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831390B2-3894-15B0-1EC1-F8905923C380}"/>
              </a:ext>
            </a:extLst>
          </p:cNvPr>
          <p:cNvGrpSpPr/>
          <p:nvPr/>
        </p:nvGrpSpPr>
        <p:grpSpPr>
          <a:xfrm>
            <a:off x="574381" y="435671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9" name="Retângulo: Cantos Arredondados 138">
              <a:extLst>
                <a:ext uri="{FF2B5EF4-FFF2-40B4-BE49-F238E27FC236}">
                  <a16:creationId xmlns:a16="http://schemas.microsoft.com/office/drawing/2014/main" id="{50A908D0-BD08-43E5-46CF-418D2A590A41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Contabilidade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</a:t>
              </a:r>
              <a:r>
                <a:rPr lang="pt-BR" sz="900" i="1" dirty="0" err="1">
                  <a:solidFill>
                    <a:schemeClr val="tx1"/>
                  </a:solidFill>
                </a:rPr>
                <a:t>Dirley</a:t>
              </a:r>
              <a:r>
                <a:rPr lang="pt-BR" sz="900" i="1" dirty="0">
                  <a:solidFill>
                    <a:schemeClr val="tx1"/>
                  </a:solidFill>
                </a:rPr>
                <a:t> dos Reis)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0" name="Retângulo: Cantos Diagonais Arredondados 139">
              <a:extLst>
                <a:ext uri="{FF2B5EF4-FFF2-40B4-BE49-F238E27FC236}">
                  <a16:creationId xmlns:a16="http://schemas.microsoft.com/office/drawing/2014/main" id="{D889A339-D6CC-BD4B-7DC4-155C63313D36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7</a:t>
              </a:r>
            </a:p>
          </p:txBody>
        </p:sp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3FC77FF8-F840-2249-83E8-ADDD05100073}"/>
              </a:ext>
            </a:extLst>
          </p:cNvPr>
          <p:cNvGrpSpPr/>
          <p:nvPr/>
        </p:nvGrpSpPr>
        <p:grpSpPr>
          <a:xfrm>
            <a:off x="2866666" y="358347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2" name="Retângulo: Cantos Arredondados 141">
              <a:extLst>
                <a:ext uri="{FF2B5EF4-FFF2-40B4-BE49-F238E27FC236}">
                  <a16:creationId xmlns:a16="http://schemas.microsoft.com/office/drawing/2014/main" id="{3A7DF958-8827-AC17-C123-4774713ACE21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Infra. e Operações de TI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(</a:t>
              </a:r>
              <a:r>
                <a:rPr lang="pt-BR" sz="1050" dirty="0">
                  <a:solidFill>
                    <a:schemeClr val="tx1"/>
                  </a:solidFill>
                </a:rPr>
                <a:t>Carlos Costa</a:t>
              </a:r>
              <a:r>
                <a:rPr lang="pt-BR" sz="1050" b="1" dirty="0">
                  <a:solidFill>
                    <a:schemeClr val="tx1"/>
                  </a:solidFill>
                </a:rPr>
                <a:t>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3" name="Retângulo: Cantos Diagonais Arredondados 142">
              <a:extLst>
                <a:ext uri="{FF2B5EF4-FFF2-40B4-BE49-F238E27FC236}">
                  <a16:creationId xmlns:a16="http://schemas.microsoft.com/office/drawing/2014/main" id="{95165BFE-F976-661A-6DA4-C47F5A6D3749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18</a:t>
              </a:r>
            </a:p>
          </p:txBody>
        </p:sp>
      </p:grp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35976A7F-5C21-D865-78D7-0ECA1D4569A3}"/>
              </a:ext>
            </a:extLst>
          </p:cNvPr>
          <p:cNvGrpSpPr/>
          <p:nvPr/>
        </p:nvGrpSpPr>
        <p:grpSpPr>
          <a:xfrm>
            <a:off x="2866666" y="435671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5" name="Retângulo: Cantos Arredondados 144">
              <a:extLst>
                <a:ext uri="{FF2B5EF4-FFF2-40B4-BE49-F238E27FC236}">
                  <a16:creationId xmlns:a16="http://schemas.microsoft.com/office/drawing/2014/main" id="{5476A685-A7AF-3D03-EC5D-88F378B14C9E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Desenvolvimento de Soluções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(Gilcimar Dias)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6" name="Retângulo: Cantos Diagonais Arredondados 145">
              <a:extLst>
                <a:ext uri="{FF2B5EF4-FFF2-40B4-BE49-F238E27FC236}">
                  <a16:creationId xmlns:a16="http://schemas.microsoft.com/office/drawing/2014/main" id="{46EBD309-54A2-28BD-FDB8-4F7EFA18E78C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25</a:t>
              </a:r>
            </a:p>
          </p:txBody>
        </p:sp>
      </p:grp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2DE3B6BE-EC32-2113-F2B2-37635D313329}"/>
              </a:ext>
            </a:extLst>
          </p:cNvPr>
          <p:cNvGrpSpPr/>
          <p:nvPr/>
        </p:nvGrpSpPr>
        <p:grpSpPr>
          <a:xfrm>
            <a:off x="5158949" y="3583471"/>
            <a:ext cx="1867813" cy="773240"/>
            <a:chOff x="3546281" y="646041"/>
            <a:chExt cx="1798620" cy="7732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8" name="Retângulo: Cantos Arredondados 147">
              <a:extLst>
                <a:ext uri="{FF2B5EF4-FFF2-40B4-BE49-F238E27FC236}">
                  <a16:creationId xmlns:a16="http://schemas.microsoft.com/office/drawing/2014/main" id="{AA75362B-F07A-E384-249E-3B1E469B80A6}"/>
                </a:ext>
              </a:extLst>
            </p:cNvPr>
            <p:cNvSpPr/>
            <p:nvPr/>
          </p:nvSpPr>
          <p:spPr>
            <a:xfrm>
              <a:off x="3546281" y="646042"/>
              <a:ext cx="1798619" cy="773239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Desempenho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 Relacionamento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(Carolina Maia)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9" name="Retângulo: Cantos Diagonais Arredondados 148">
              <a:extLst>
                <a:ext uri="{FF2B5EF4-FFF2-40B4-BE49-F238E27FC236}">
                  <a16:creationId xmlns:a16="http://schemas.microsoft.com/office/drawing/2014/main" id="{3E07403C-6303-A34E-8D6C-F68D5B1BECA8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22</a:t>
              </a:r>
            </a:p>
          </p:txBody>
        </p:sp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AF395227-C260-1C5C-198A-E59C93BED546}"/>
              </a:ext>
            </a:extLst>
          </p:cNvPr>
          <p:cNvGrpSpPr/>
          <p:nvPr/>
        </p:nvGrpSpPr>
        <p:grpSpPr>
          <a:xfrm>
            <a:off x="7451231" y="3583471"/>
            <a:ext cx="1867813" cy="773240"/>
            <a:chOff x="3546281" y="646041"/>
            <a:chExt cx="1798620" cy="7732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1" name="Retângulo: Cantos Arredondados 150">
              <a:extLst>
                <a:ext uri="{FF2B5EF4-FFF2-40B4-BE49-F238E27FC236}">
                  <a16:creationId xmlns:a16="http://schemas.microsoft.com/office/drawing/2014/main" id="{9336E22E-CF3D-0F84-0365-8FDFD0E4116E}"/>
                </a:ext>
              </a:extLst>
            </p:cNvPr>
            <p:cNvSpPr/>
            <p:nvPr/>
          </p:nvSpPr>
          <p:spPr>
            <a:xfrm>
              <a:off x="3546281" y="646042"/>
              <a:ext cx="1798619" cy="773239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Planejamento, Orçamento e Custos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(Frederico Pereira)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52" name="Retângulo: Cantos Diagonais Arredondados 151">
              <a:extLst>
                <a:ext uri="{FF2B5EF4-FFF2-40B4-BE49-F238E27FC236}">
                  <a16:creationId xmlns:a16="http://schemas.microsoft.com/office/drawing/2014/main" id="{736831E3-F20C-E58B-427C-24D98F0139E9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15</a:t>
              </a:r>
            </a:p>
          </p:txBody>
        </p:sp>
      </p:grpSp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E77A57A1-BE62-FF2A-41E0-EC45315A45CE}"/>
              </a:ext>
            </a:extLst>
          </p:cNvPr>
          <p:cNvGrpSpPr/>
          <p:nvPr/>
        </p:nvGrpSpPr>
        <p:grpSpPr>
          <a:xfrm>
            <a:off x="9743513" y="358347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4" name="Retângulo: Cantos Arredondados 153">
              <a:extLst>
                <a:ext uri="{FF2B5EF4-FFF2-40B4-BE49-F238E27FC236}">
                  <a16:creationId xmlns:a16="http://schemas.microsoft.com/office/drawing/2014/main" id="{9A512E17-F7D7-976F-72FD-19BDB7C8ED7D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Suprimentos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(Rodrigo de Albuquerque)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55" name="Retângulo: Cantos Diagonais Arredondados 154">
              <a:extLst>
                <a:ext uri="{FF2B5EF4-FFF2-40B4-BE49-F238E27FC236}">
                  <a16:creationId xmlns:a16="http://schemas.microsoft.com/office/drawing/2014/main" id="{7A5D6505-D079-E9F3-4E1B-9D949332D463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24</a:t>
              </a:r>
            </a:p>
          </p:txBody>
        </p:sp>
      </p:grpSp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D003F533-A760-92C7-063F-8F52142EC038}"/>
              </a:ext>
            </a:extLst>
          </p:cNvPr>
          <p:cNvGrpSpPr/>
          <p:nvPr/>
        </p:nvGrpSpPr>
        <p:grpSpPr>
          <a:xfrm>
            <a:off x="9745947" y="4313842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7" name="Retângulo: Cantos Arredondados 156">
              <a:extLst>
                <a:ext uri="{FF2B5EF4-FFF2-40B4-BE49-F238E27FC236}">
                  <a16:creationId xmlns:a16="http://schemas.microsoft.com/office/drawing/2014/main" id="{5A96C448-0EDE-EF9B-1BD5-4F3479ED86DE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Administrativa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(Alexandre Farias)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58" name="Retângulo: Cantos Diagonais Arredondados 157">
              <a:extLst>
                <a:ext uri="{FF2B5EF4-FFF2-40B4-BE49-F238E27FC236}">
                  <a16:creationId xmlns:a16="http://schemas.microsoft.com/office/drawing/2014/main" id="{F7890241-40CF-28CC-43D4-DA545CF8CB24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37</a:t>
              </a:r>
            </a:p>
          </p:txBody>
        </p:sp>
      </p:grpSp>
      <p:grpSp>
        <p:nvGrpSpPr>
          <p:cNvPr id="159" name="Agrupar 158">
            <a:extLst>
              <a:ext uri="{FF2B5EF4-FFF2-40B4-BE49-F238E27FC236}">
                <a16:creationId xmlns:a16="http://schemas.microsoft.com/office/drawing/2014/main" id="{76FCEB04-A440-FD3A-6D83-F7C53BB3DF14}"/>
              </a:ext>
            </a:extLst>
          </p:cNvPr>
          <p:cNvGrpSpPr/>
          <p:nvPr/>
        </p:nvGrpSpPr>
        <p:grpSpPr>
          <a:xfrm>
            <a:off x="9748381" y="5044213"/>
            <a:ext cx="1867813" cy="876052"/>
            <a:chOff x="3546281" y="646041"/>
            <a:chExt cx="1798620" cy="8760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0" name="Retângulo: Cantos Arredondados 159">
              <a:extLst>
                <a:ext uri="{FF2B5EF4-FFF2-40B4-BE49-F238E27FC236}">
                  <a16:creationId xmlns:a16="http://schemas.microsoft.com/office/drawing/2014/main" id="{C083D476-818B-BF8E-CDBD-BD8783172366}"/>
                </a:ext>
              </a:extLst>
            </p:cNvPr>
            <p:cNvSpPr/>
            <p:nvPr/>
          </p:nvSpPr>
          <p:spPr>
            <a:xfrm>
              <a:off x="3546281" y="646042"/>
              <a:ext cx="1798619" cy="87605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Engenharia, Manutenção e Arquitetura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(Ana Cecília Reis)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61" name="Retângulo: Cantos Diagonais Arredondados 160">
              <a:extLst>
                <a:ext uri="{FF2B5EF4-FFF2-40B4-BE49-F238E27FC236}">
                  <a16:creationId xmlns:a16="http://schemas.microsoft.com/office/drawing/2014/main" id="{D75FC2FC-ABFF-7795-5625-90E4BFF2D50C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8</a:t>
              </a:r>
            </a:p>
          </p:txBody>
        </p:sp>
      </p:grpSp>
      <p:cxnSp>
        <p:nvCxnSpPr>
          <p:cNvPr id="166" name="Conector reto 165">
            <a:extLst>
              <a:ext uri="{FF2B5EF4-FFF2-40B4-BE49-F238E27FC236}">
                <a16:creationId xmlns:a16="http://schemas.microsoft.com/office/drawing/2014/main" id="{72F2E5DD-98D0-6E5B-F5D4-3566895C569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98425" y="3057940"/>
            <a:ext cx="271089" cy="829918"/>
          </a:xfrm>
          <a:prstGeom prst="bentConnector3">
            <a:avLst>
              <a:gd name="adj1" fmla="val -356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Conector reto 167">
            <a:extLst>
              <a:ext uri="{FF2B5EF4-FFF2-40B4-BE49-F238E27FC236}">
                <a16:creationId xmlns:a16="http://schemas.microsoft.com/office/drawing/2014/main" id="{609505D7-A252-34A8-BD0D-42EDC7A8E848}"/>
              </a:ext>
            </a:extLst>
          </p:cNvPr>
          <p:cNvCxnSpPr>
            <a:cxnSpLocks/>
            <a:stCxn id="24" idx="1"/>
            <a:endCxn id="139" idx="1"/>
          </p:cNvCxnSpPr>
          <p:nvPr/>
        </p:nvCxnSpPr>
        <p:spPr>
          <a:xfrm rot="10800000" flipH="1" flipV="1">
            <a:off x="303293" y="3068210"/>
            <a:ext cx="271088" cy="1603158"/>
          </a:xfrm>
          <a:prstGeom prst="bentConnector3">
            <a:avLst>
              <a:gd name="adj1" fmla="val -3564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Conector reto 167">
            <a:extLst>
              <a:ext uri="{FF2B5EF4-FFF2-40B4-BE49-F238E27FC236}">
                <a16:creationId xmlns:a16="http://schemas.microsoft.com/office/drawing/2014/main" id="{06CCBCDA-8026-DB1A-442B-4E7A4B0CEF99}"/>
              </a:ext>
            </a:extLst>
          </p:cNvPr>
          <p:cNvCxnSpPr>
            <a:cxnSpLocks/>
            <a:stCxn id="39" idx="1"/>
            <a:endCxn id="142" idx="1"/>
          </p:cNvCxnSpPr>
          <p:nvPr/>
        </p:nvCxnSpPr>
        <p:spPr>
          <a:xfrm rot="10800000" flipH="1" flipV="1">
            <a:off x="2595576" y="3068210"/>
            <a:ext cx="271089" cy="829918"/>
          </a:xfrm>
          <a:prstGeom prst="bentConnector3">
            <a:avLst>
              <a:gd name="adj1" fmla="val -2868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Conector reto 167">
            <a:extLst>
              <a:ext uri="{FF2B5EF4-FFF2-40B4-BE49-F238E27FC236}">
                <a16:creationId xmlns:a16="http://schemas.microsoft.com/office/drawing/2014/main" id="{8DC75C52-1132-4806-3869-E3E2193813C4}"/>
              </a:ext>
            </a:extLst>
          </p:cNvPr>
          <p:cNvCxnSpPr>
            <a:cxnSpLocks/>
            <a:stCxn id="43" idx="1"/>
            <a:endCxn id="148" idx="1"/>
          </p:cNvCxnSpPr>
          <p:nvPr/>
        </p:nvCxnSpPr>
        <p:spPr>
          <a:xfrm rot="10800000" flipH="1" flipV="1">
            <a:off x="4887861" y="3068210"/>
            <a:ext cx="271088" cy="901882"/>
          </a:xfrm>
          <a:prstGeom prst="bentConnector3">
            <a:avLst>
              <a:gd name="adj1" fmla="val -3912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Conector reto 167">
            <a:extLst>
              <a:ext uri="{FF2B5EF4-FFF2-40B4-BE49-F238E27FC236}">
                <a16:creationId xmlns:a16="http://schemas.microsoft.com/office/drawing/2014/main" id="{79DC781E-6C65-B2F8-F9C1-2735E71DEA59}"/>
              </a:ext>
            </a:extLst>
          </p:cNvPr>
          <p:cNvCxnSpPr>
            <a:cxnSpLocks/>
            <a:stCxn id="48" idx="1"/>
            <a:endCxn id="151" idx="1"/>
          </p:cNvCxnSpPr>
          <p:nvPr/>
        </p:nvCxnSpPr>
        <p:spPr>
          <a:xfrm rot="10800000" flipH="1" flipV="1">
            <a:off x="7180145" y="3068210"/>
            <a:ext cx="271086" cy="901882"/>
          </a:xfrm>
          <a:prstGeom prst="bentConnector3">
            <a:avLst>
              <a:gd name="adj1" fmla="val -3564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Conector reto 167">
            <a:extLst>
              <a:ext uri="{FF2B5EF4-FFF2-40B4-BE49-F238E27FC236}">
                <a16:creationId xmlns:a16="http://schemas.microsoft.com/office/drawing/2014/main" id="{E3DB0177-0C93-A4DB-1BC6-AB2C9233B614}"/>
              </a:ext>
            </a:extLst>
          </p:cNvPr>
          <p:cNvCxnSpPr>
            <a:cxnSpLocks/>
            <a:stCxn id="51" idx="1"/>
            <a:endCxn id="154" idx="1"/>
          </p:cNvCxnSpPr>
          <p:nvPr/>
        </p:nvCxnSpPr>
        <p:spPr>
          <a:xfrm rot="10800000" flipH="1" flipV="1">
            <a:off x="9472429" y="3068210"/>
            <a:ext cx="271084" cy="829918"/>
          </a:xfrm>
          <a:prstGeom prst="bentConnector3">
            <a:avLst>
              <a:gd name="adj1" fmla="val -782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Conector reto 167">
            <a:extLst>
              <a:ext uri="{FF2B5EF4-FFF2-40B4-BE49-F238E27FC236}">
                <a16:creationId xmlns:a16="http://schemas.microsoft.com/office/drawing/2014/main" id="{0C6CCFC9-5E4D-9C9D-677C-599E7A0A1689}"/>
              </a:ext>
            </a:extLst>
          </p:cNvPr>
          <p:cNvCxnSpPr>
            <a:cxnSpLocks/>
            <a:stCxn id="51" idx="1"/>
            <a:endCxn id="157" idx="1"/>
          </p:cNvCxnSpPr>
          <p:nvPr/>
        </p:nvCxnSpPr>
        <p:spPr>
          <a:xfrm rot="10800000" flipH="1" flipV="1">
            <a:off x="9472429" y="3068209"/>
            <a:ext cx="273518" cy="1560289"/>
          </a:xfrm>
          <a:prstGeom prst="bentConnector3">
            <a:avLst>
              <a:gd name="adj1" fmla="val -1120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Conector reto 167">
            <a:extLst>
              <a:ext uri="{FF2B5EF4-FFF2-40B4-BE49-F238E27FC236}">
                <a16:creationId xmlns:a16="http://schemas.microsoft.com/office/drawing/2014/main" id="{1AF9F05A-5539-7534-4FFA-5A8F6965F066}"/>
              </a:ext>
            </a:extLst>
          </p:cNvPr>
          <p:cNvCxnSpPr>
            <a:cxnSpLocks/>
            <a:stCxn id="51" idx="1"/>
            <a:endCxn id="160" idx="1"/>
          </p:cNvCxnSpPr>
          <p:nvPr/>
        </p:nvCxnSpPr>
        <p:spPr>
          <a:xfrm rot="10800000" flipH="1" flipV="1">
            <a:off x="9472429" y="3068210"/>
            <a:ext cx="275952" cy="2414030"/>
          </a:xfrm>
          <a:prstGeom prst="bentConnector3">
            <a:avLst>
              <a:gd name="adj1" fmla="val -1110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Conector reto 167">
            <a:extLst>
              <a:ext uri="{FF2B5EF4-FFF2-40B4-BE49-F238E27FC236}">
                <a16:creationId xmlns:a16="http://schemas.microsoft.com/office/drawing/2014/main" id="{9399E33D-ECCB-6AA6-8CEB-B7A76D78EB6E}"/>
              </a:ext>
            </a:extLst>
          </p:cNvPr>
          <p:cNvCxnSpPr>
            <a:cxnSpLocks/>
            <a:stCxn id="39" idx="1"/>
            <a:endCxn id="145" idx="1"/>
          </p:cNvCxnSpPr>
          <p:nvPr/>
        </p:nvCxnSpPr>
        <p:spPr>
          <a:xfrm rot="10800000" flipH="1" flipV="1">
            <a:off x="2595576" y="3068210"/>
            <a:ext cx="271089" cy="1603158"/>
          </a:xfrm>
          <a:prstGeom prst="bentConnector3">
            <a:avLst>
              <a:gd name="adj1" fmla="val -3216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2" name="Agrupar 211">
            <a:extLst>
              <a:ext uri="{FF2B5EF4-FFF2-40B4-BE49-F238E27FC236}">
                <a16:creationId xmlns:a16="http://schemas.microsoft.com/office/drawing/2014/main" id="{1317D528-0E63-4E1C-5822-A1746C899647}"/>
              </a:ext>
            </a:extLst>
          </p:cNvPr>
          <p:cNvGrpSpPr/>
          <p:nvPr/>
        </p:nvGrpSpPr>
        <p:grpSpPr>
          <a:xfrm>
            <a:off x="9607971" y="1759901"/>
            <a:ext cx="1867814" cy="629312"/>
            <a:chOff x="3546280" y="646041"/>
            <a:chExt cx="1798621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3" name="Retângulo: Cantos Arredondados 212">
              <a:extLst>
                <a:ext uri="{FF2B5EF4-FFF2-40B4-BE49-F238E27FC236}">
                  <a16:creationId xmlns:a16="http://schemas.microsoft.com/office/drawing/2014/main" id="{EC257EDA-AAA2-DF91-DF0A-F2045A04EA73}"/>
                </a:ext>
              </a:extLst>
            </p:cNvPr>
            <p:cNvSpPr/>
            <p:nvPr/>
          </p:nvSpPr>
          <p:spPr>
            <a:xfrm>
              <a:off x="3546280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Gerencia CNI/SP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b="1" i="1" dirty="0">
                  <a:solidFill>
                    <a:schemeClr val="tx1"/>
                  </a:solidFill>
                </a:rPr>
                <a:t>(</a:t>
              </a:r>
              <a:r>
                <a:rPr lang="pt-BR" sz="900" i="1" dirty="0">
                  <a:solidFill>
                    <a:schemeClr val="tx1"/>
                  </a:solidFill>
                </a:rPr>
                <a:t>Thiago Macedo)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214" name="Retângulo: Cantos Diagonais Arredondados 213">
              <a:extLst>
                <a:ext uri="{FF2B5EF4-FFF2-40B4-BE49-F238E27FC236}">
                  <a16:creationId xmlns:a16="http://schemas.microsoft.com/office/drawing/2014/main" id="{9F63F434-CCAD-12B2-8220-114F0CB3928D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7</a:t>
              </a:r>
            </a:p>
          </p:txBody>
        </p:sp>
      </p:grpSp>
      <p:cxnSp>
        <p:nvCxnSpPr>
          <p:cNvPr id="216" name="Conector reto 215">
            <a:extLst>
              <a:ext uri="{FF2B5EF4-FFF2-40B4-BE49-F238E27FC236}">
                <a16:creationId xmlns:a16="http://schemas.microsoft.com/office/drawing/2014/main" id="{F70EA53E-A3E3-C690-EA46-E0BF69937D1D}"/>
              </a:ext>
            </a:extLst>
          </p:cNvPr>
          <p:cNvCxnSpPr>
            <a:cxnSpLocks/>
            <a:stCxn id="9" idx="2"/>
            <a:endCxn id="213" idx="1"/>
          </p:cNvCxnSpPr>
          <p:nvPr/>
        </p:nvCxnSpPr>
        <p:spPr>
          <a:xfrm rot="16200000" flipH="1">
            <a:off x="7671868" y="138455"/>
            <a:ext cx="283868" cy="3588338"/>
          </a:xfrm>
          <a:prstGeom prst="bentConnector2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Conector reto 217">
            <a:extLst>
              <a:ext uri="{FF2B5EF4-FFF2-40B4-BE49-F238E27FC236}">
                <a16:creationId xmlns:a16="http://schemas.microsoft.com/office/drawing/2014/main" id="{2502D9D8-58D4-7286-3786-E3CD0668B4D9}"/>
              </a:ext>
            </a:extLst>
          </p:cNvPr>
          <p:cNvCxnSpPr>
            <a:cxnSpLocks/>
            <a:stCxn id="9" idx="2"/>
            <a:endCxn id="43" idx="0"/>
          </p:cNvCxnSpPr>
          <p:nvPr/>
        </p:nvCxnSpPr>
        <p:spPr>
          <a:xfrm rot="5400000">
            <a:off x="5530109" y="2217894"/>
            <a:ext cx="916729" cy="62321"/>
          </a:xfrm>
          <a:prstGeom prst="bentConnector3">
            <a:avLst>
              <a:gd name="adj1" fmla="val 754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Conector reto 217">
            <a:extLst>
              <a:ext uri="{FF2B5EF4-FFF2-40B4-BE49-F238E27FC236}">
                <a16:creationId xmlns:a16="http://schemas.microsoft.com/office/drawing/2014/main" id="{CF5F8B8B-17F4-1C96-4A50-C99AD7EB0241}"/>
              </a:ext>
            </a:extLst>
          </p:cNvPr>
          <p:cNvCxnSpPr>
            <a:cxnSpLocks/>
            <a:stCxn id="9" idx="2"/>
            <a:endCxn id="39" idx="0"/>
          </p:cNvCxnSpPr>
          <p:nvPr/>
        </p:nvCxnSpPr>
        <p:spPr>
          <a:xfrm rot="5400000">
            <a:off x="4383967" y="1071752"/>
            <a:ext cx="916729" cy="2354605"/>
          </a:xfrm>
          <a:prstGeom prst="bentConnector3">
            <a:avLst>
              <a:gd name="adj1" fmla="val 754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Conector reto 217">
            <a:extLst>
              <a:ext uri="{FF2B5EF4-FFF2-40B4-BE49-F238E27FC236}">
                <a16:creationId xmlns:a16="http://schemas.microsoft.com/office/drawing/2014/main" id="{F97D46C5-F7AC-77E4-CD5F-2C068FA5D107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 rot="5400000">
            <a:off x="3237825" y="-74390"/>
            <a:ext cx="916729" cy="4646889"/>
          </a:xfrm>
          <a:prstGeom prst="bentConnector3">
            <a:avLst>
              <a:gd name="adj1" fmla="val 754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Conector reto 217">
            <a:extLst>
              <a:ext uri="{FF2B5EF4-FFF2-40B4-BE49-F238E27FC236}">
                <a16:creationId xmlns:a16="http://schemas.microsoft.com/office/drawing/2014/main" id="{696B068C-E629-A8C4-4019-38891ADE90DF}"/>
              </a:ext>
            </a:extLst>
          </p:cNvPr>
          <p:cNvCxnSpPr>
            <a:cxnSpLocks/>
            <a:stCxn id="9" idx="2"/>
            <a:endCxn id="48" idx="0"/>
          </p:cNvCxnSpPr>
          <p:nvPr/>
        </p:nvCxnSpPr>
        <p:spPr>
          <a:xfrm rot="16200000" flipH="1">
            <a:off x="6676250" y="1134072"/>
            <a:ext cx="916729" cy="2229963"/>
          </a:xfrm>
          <a:prstGeom prst="bentConnector3">
            <a:avLst>
              <a:gd name="adj1" fmla="val 754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Conector reto 217">
            <a:extLst>
              <a:ext uri="{FF2B5EF4-FFF2-40B4-BE49-F238E27FC236}">
                <a16:creationId xmlns:a16="http://schemas.microsoft.com/office/drawing/2014/main" id="{2ABF513A-D8CD-D180-C0D3-FC01C26B2C38}"/>
              </a:ext>
            </a:extLst>
          </p:cNvPr>
          <p:cNvCxnSpPr>
            <a:cxnSpLocks/>
            <a:stCxn id="9" idx="2"/>
            <a:endCxn id="51" idx="0"/>
          </p:cNvCxnSpPr>
          <p:nvPr/>
        </p:nvCxnSpPr>
        <p:spPr>
          <a:xfrm rot="16200000" flipH="1">
            <a:off x="7822392" y="-12070"/>
            <a:ext cx="916729" cy="4522247"/>
          </a:xfrm>
          <a:prstGeom prst="bentConnector3">
            <a:avLst>
              <a:gd name="adj1" fmla="val 754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Agrupar 3">
            <a:extLst>
              <a:ext uri="{FF2B5EF4-FFF2-40B4-BE49-F238E27FC236}">
                <a16:creationId xmlns:a16="http://schemas.microsoft.com/office/drawing/2014/main" id="{ABB52377-C917-709F-8EA7-02E3053B4C56}"/>
              </a:ext>
            </a:extLst>
          </p:cNvPr>
          <p:cNvGrpSpPr/>
          <p:nvPr/>
        </p:nvGrpSpPr>
        <p:grpSpPr>
          <a:xfrm>
            <a:off x="569515" y="5078020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EC9203F8-B4FF-53B6-A4C4-231746955F20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Arrecadação e Fiscalização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(Bruno Guimarães)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6" name="Retângulo: Cantos Diagonais Arredondados 5">
              <a:extLst>
                <a:ext uri="{FF2B5EF4-FFF2-40B4-BE49-F238E27FC236}">
                  <a16:creationId xmlns:a16="http://schemas.microsoft.com/office/drawing/2014/main" id="{1CDB6134-EB02-2F66-DF80-3CECC6498A01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7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614F871-9764-8539-67B4-88DCA40B016C}"/>
              </a:ext>
            </a:extLst>
          </p:cNvPr>
          <p:cNvGrpSpPr/>
          <p:nvPr/>
        </p:nvGrpSpPr>
        <p:grpSpPr>
          <a:xfrm>
            <a:off x="569515" y="5828376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C03F4355-906D-0E72-FE23-20A569D83465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Planejamento Financeiro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(Cristiane </a:t>
              </a:r>
              <a:r>
                <a:rPr lang="pt-BR" sz="900" i="1" dirty="0" err="1">
                  <a:solidFill>
                    <a:schemeClr val="tx1"/>
                  </a:solidFill>
                </a:rPr>
                <a:t>Debiazio</a:t>
              </a:r>
              <a:r>
                <a:rPr lang="pt-BR" sz="900" i="1" dirty="0">
                  <a:solidFill>
                    <a:schemeClr val="tx1"/>
                  </a:solidFill>
                </a:rPr>
                <a:t>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tângulo: Cantos Diagonais Arredondados 11">
              <a:extLst>
                <a:ext uri="{FF2B5EF4-FFF2-40B4-BE49-F238E27FC236}">
                  <a16:creationId xmlns:a16="http://schemas.microsoft.com/office/drawing/2014/main" id="{4E75085B-484B-C13F-2935-9C149B5EF316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4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95B32732-386B-895A-25C9-1A41D2D072FF}"/>
              </a:ext>
            </a:extLst>
          </p:cNvPr>
          <p:cNvGrpSpPr/>
          <p:nvPr/>
        </p:nvGrpSpPr>
        <p:grpSpPr>
          <a:xfrm>
            <a:off x="5158948" y="4439410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4F103E10-6594-A8E6-7ED1-B899B8BF0CDC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Promoção da Saúde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</a:t>
              </a:r>
              <a:r>
                <a:rPr lang="pt-BR" sz="900" i="1" dirty="0" err="1">
                  <a:solidFill>
                    <a:schemeClr val="tx1"/>
                  </a:solidFill>
                </a:rPr>
                <a:t>Marlen</a:t>
              </a:r>
              <a:r>
                <a:rPr lang="pt-BR" sz="900" i="1" dirty="0">
                  <a:solidFill>
                    <a:schemeClr val="tx1"/>
                  </a:solidFill>
                </a:rPr>
                <a:t> Costa)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tângulo: Cantos Diagonais Arredondados 15">
              <a:extLst>
                <a:ext uri="{FF2B5EF4-FFF2-40B4-BE49-F238E27FC236}">
                  <a16:creationId xmlns:a16="http://schemas.microsoft.com/office/drawing/2014/main" id="{368CA1A4-CAA0-0ABB-8F98-23DE01F41ECF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7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F2003B3D-43A0-152D-4CE3-DA4A3928628D}"/>
              </a:ext>
            </a:extLst>
          </p:cNvPr>
          <p:cNvGrpSpPr/>
          <p:nvPr/>
        </p:nvGrpSpPr>
        <p:grpSpPr>
          <a:xfrm>
            <a:off x="5158948" y="5200196"/>
            <a:ext cx="1867813" cy="880635"/>
            <a:chOff x="3546281" y="646041"/>
            <a:chExt cx="1798620" cy="8806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4C49DC07-0BC0-4CA2-852D-8869DCF883B2}"/>
                </a:ext>
              </a:extLst>
            </p:cNvPr>
            <p:cNvSpPr/>
            <p:nvPr/>
          </p:nvSpPr>
          <p:spPr>
            <a:xfrm>
              <a:off x="3546281" y="646042"/>
              <a:ext cx="1798619" cy="880634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 Remuneração, Operação e </a:t>
              </a:r>
              <a:r>
                <a:rPr lang="pt-BR" sz="1050" b="1" dirty="0" err="1">
                  <a:solidFill>
                    <a:schemeClr val="tx1"/>
                  </a:solidFill>
                </a:rPr>
                <a:t>Analytics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(Suyane Ricci)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tângulo: Cantos Diagonais Arredondados 18">
              <a:extLst>
                <a:ext uri="{FF2B5EF4-FFF2-40B4-BE49-F238E27FC236}">
                  <a16:creationId xmlns:a16="http://schemas.microsoft.com/office/drawing/2014/main" id="{D485347E-27AA-6CEF-CEE5-BC5FA9CFFFD4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11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16F6EFD-70AD-8ECC-A404-1149D4283C8F}"/>
              </a:ext>
            </a:extLst>
          </p:cNvPr>
          <p:cNvGrpSpPr/>
          <p:nvPr/>
        </p:nvGrpSpPr>
        <p:grpSpPr>
          <a:xfrm>
            <a:off x="7466640" y="4436254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2138B58-29DD-2940-889D-32EDDA2DDB57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Processos e Qualidade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(Ângela Nobre)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tângulo: Cantos Diagonais Arredondados 21">
              <a:extLst>
                <a:ext uri="{FF2B5EF4-FFF2-40B4-BE49-F238E27FC236}">
                  <a16:creationId xmlns:a16="http://schemas.microsoft.com/office/drawing/2014/main" id="{06226EBC-083F-5898-EC3E-C93801D3F422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7</a:t>
              </a:r>
            </a:p>
          </p:txBody>
        </p:sp>
      </p:grpSp>
      <p:cxnSp>
        <p:nvCxnSpPr>
          <p:cNvPr id="34" name="Conector reto 167">
            <a:extLst>
              <a:ext uri="{FF2B5EF4-FFF2-40B4-BE49-F238E27FC236}">
                <a16:creationId xmlns:a16="http://schemas.microsoft.com/office/drawing/2014/main" id="{AF8DC41B-8703-D112-78AA-45E6FF550AEA}"/>
              </a:ext>
            </a:extLst>
          </p:cNvPr>
          <p:cNvCxnSpPr>
            <a:cxnSpLocks/>
            <a:stCxn id="48" idx="1"/>
            <a:endCxn id="21" idx="1"/>
          </p:cNvCxnSpPr>
          <p:nvPr/>
        </p:nvCxnSpPr>
        <p:spPr>
          <a:xfrm rot="10800000" flipH="1" flipV="1">
            <a:off x="7180144" y="3068209"/>
            <a:ext cx="286495" cy="1682701"/>
          </a:xfrm>
          <a:prstGeom prst="bentConnector3">
            <a:avLst>
              <a:gd name="adj1" fmla="val -3043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DC64DB-4F7D-95A8-1E3D-AF69E636C7D3}"/>
              </a:ext>
            </a:extLst>
          </p:cNvPr>
          <p:cNvSpPr txBox="1"/>
          <p:nvPr/>
        </p:nvSpPr>
        <p:spPr>
          <a:xfrm>
            <a:off x="11120398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sp>
        <p:nvSpPr>
          <p:cNvPr id="26" name="Retângulo: Cantos Diagonais Arredondados 25">
            <a:extLst>
              <a:ext uri="{FF2B5EF4-FFF2-40B4-BE49-F238E27FC236}">
                <a16:creationId xmlns:a16="http://schemas.microsoft.com/office/drawing/2014/main" id="{63D24131-695A-8544-04EF-DDDF89A7FB04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232</a:t>
            </a:r>
            <a:endParaRPr lang="pt-BR" sz="3200" b="1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89F8C42-AA70-AB1C-BFAB-FAF307A06211}"/>
              </a:ext>
            </a:extLst>
          </p:cNvPr>
          <p:cNvSpPr txBox="1"/>
          <p:nvPr/>
        </p:nvSpPr>
        <p:spPr>
          <a:xfrm>
            <a:off x="3254873" y="6639484"/>
            <a:ext cx="6573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Observação: A alteração da estrutura da SDH foi somente em junho. Foi refletida aqui, mas com o quadro de maio</a:t>
            </a:r>
          </a:p>
        </p:txBody>
      </p:sp>
      <p:cxnSp>
        <p:nvCxnSpPr>
          <p:cNvPr id="44" name="Conector reto 167">
            <a:extLst>
              <a:ext uri="{FF2B5EF4-FFF2-40B4-BE49-F238E27FC236}">
                <a16:creationId xmlns:a16="http://schemas.microsoft.com/office/drawing/2014/main" id="{151861BD-A54C-01D0-71DA-AD155151E776}"/>
              </a:ext>
            </a:extLst>
          </p:cNvPr>
          <p:cNvCxnSpPr>
            <a:cxnSpLocks/>
            <a:stCxn id="43" idx="1"/>
            <a:endCxn id="15" idx="1"/>
          </p:cNvCxnSpPr>
          <p:nvPr/>
        </p:nvCxnSpPr>
        <p:spPr>
          <a:xfrm rot="10800000" flipH="1" flipV="1">
            <a:off x="4887860" y="3068209"/>
            <a:ext cx="271087" cy="1685857"/>
          </a:xfrm>
          <a:prstGeom prst="bentConnector3">
            <a:avLst>
              <a:gd name="adj1" fmla="val -3767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ector reto 167">
            <a:extLst>
              <a:ext uri="{FF2B5EF4-FFF2-40B4-BE49-F238E27FC236}">
                <a16:creationId xmlns:a16="http://schemas.microsoft.com/office/drawing/2014/main" id="{21117AE0-3EB6-1A97-59B9-D14F34326A8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887859" y="3068208"/>
            <a:ext cx="271087" cy="1685857"/>
          </a:xfrm>
          <a:prstGeom prst="bentConnector3">
            <a:avLst>
              <a:gd name="adj1" fmla="val -3767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ector reto 167">
            <a:extLst>
              <a:ext uri="{FF2B5EF4-FFF2-40B4-BE49-F238E27FC236}">
                <a16:creationId xmlns:a16="http://schemas.microsoft.com/office/drawing/2014/main" id="{2F4E0E9D-19F7-8C4A-CCD5-746FAB8F6EFF}"/>
              </a:ext>
            </a:extLst>
          </p:cNvPr>
          <p:cNvCxnSpPr>
            <a:cxnSpLocks/>
            <a:stCxn id="43" idx="1"/>
            <a:endCxn id="18" idx="1"/>
          </p:cNvCxnSpPr>
          <p:nvPr/>
        </p:nvCxnSpPr>
        <p:spPr>
          <a:xfrm rot="10800000" flipH="1" flipV="1">
            <a:off x="4887860" y="3068210"/>
            <a:ext cx="271087" cy="2572304"/>
          </a:xfrm>
          <a:prstGeom prst="bentConnector3">
            <a:avLst>
              <a:gd name="adj1" fmla="val -3767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Retângulo: Cantos Diagonais Arredondados 129">
            <a:extLst>
              <a:ext uri="{FF2B5EF4-FFF2-40B4-BE49-F238E27FC236}">
                <a16:creationId xmlns:a16="http://schemas.microsoft.com/office/drawing/2014/main" id="{2493DA60-26F4-0067-55C1-92FF57AF074B}"/>
              </a:ext>
            </a:extLst>
          </p:cNvPr>
          <p:cNvSpPr/>
          <p:nvPr/>
        </p:nvSpPr>
        <p:spPr>
          <a:xfrm>
            <a:off x="1952297" y="2408965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34</a:t>
            </a:r>
          </a:p>
        </p:txBody>
      </p:sp>
      <p:sp>
        <p:nvSpPr>
          <p:cNvPr id="131" name="Retângulo: Cantos Diagonais Arredondados 130">
            <a:extLst>
              <a:ext uri="{FF2B5EF4-FFF2-40B4-BE49-F238E27FC236}">
                <a16:creationId xmlns:a16="http://schemas.microsoft.com/office/drawing/2014/main" id="{B9961BE7-9904-468F-68D6-C3951E5DFFA8}"/>
              </a:ext>
            </a:extLst>
          </p:cNvPr>
          <p:cNvSpPr/>
          <p:nvPr/>
        </p:nvSpPr>
        <p:spPr>
          <a:xfrm>
            <a:off x="4244581" y="2417830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46</a:t>
            </a:r>
          </a:p>
        </p:txBody>
      </p:sp>
      <p:sp>
        <p:nvSpPr>
          <p:cNvPr id="132" name="Retângulo: Cantos Diagonais Arredondados 131">
            <a:extLst>
              <a:ext uri="{FF2B5EF4-FFF2-40B4-BE49-F238E27FC236}">
                <a16:creationId xmlns:a16="http://schemas.microsoft.com/office/drawing/2014/main" id="{74276DDA-C3AB-6EC8-6E4D-8CFAC918E08D}"/>
              </a:ext>
            </a:extLst>
          </p:cNvPr>
          <p:cNvSpPr/>
          <p:nvPr/>
        </p:nvSpPr>
        <p:spPr>
          <a:xfrm>
            <a:off x="6536865" y="2426695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45</a:t>
            </a:r>
          </a:p>
        </p:txBody>
      </p:sp>
      <p:sp>
        <p:nvSpPr>
          <p:cNvPr id="133" name="Retângulo: Cantos Diagonais Arredondados 132">
            <a:extLst>
              <a:ext uri="{FF2B5EF4-FFF2-40B4-BE49-F238E27FC236}">
                <a16:creationId xmlns:a16="http://schemas.microsoft.com/office/drawing/2014/main" id="{588024C1-FC12-5C39-633A-728B069522D8}"/>
              </a:ext>
            </a:extLst>
          </p:cNvPr>
          <p:cNvSpPr/>
          <p:nvPr/>
        </p:nvSpPr>
        <p:spPr>
          <a:xfrm>
            <a:off x="8834013" y="2421821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25</a:t>
            </a:r>
          </a:p>
        </p:txBody>
      </p:sp>
      <p:sp>
        <p:nvSpPr>
          <p:cNvPr id="134" name="Retângulo: Cantos Diagonais Arredondados 133">
            <a:extLst>
              <a:ext uri="{FF2B5EF4-FFF2-40B4-BE49-F238E27FC236}">
                <a16:creationId xmlns:a16="http://schemas.microsoft.com/office/drawing/2014/main" id="{40C15CCA-5330-2B34-75E2-DD370C6B13F5}"/>
              </a:ext>
            </a:extLst>
          </p:cNvPr>
          <p:cNvSpPr/>
          <p:nvPr/>
        </p:nvSpPr>
        <p:spPr>
          <a:xfrm>
            <a:off x="11131161" y="2416947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2235309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A8656-22F7-B8BD-6AC7-549D5CBE3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E090304-BD92-1C53-76AE-5A3738AD7903}"/>
              </a:ext>
            </a:extLst>
          </p:cNvPr>
          <p:cNvGrpSpPr/>
          <p:nvPr/>
        </p:nvGrpSpPr>
        <p:grpSpPr>
          <a:xfrm>
            <a:off x="4974551" y="1271025"/>
            <a:ext cx="2232914" cy="1066515"/>
            <a:chOff x="3546282" y="646041"/>
            <a:chExt cx="2138902" cy="10665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8978DF4-F8A9-614D-979D-45B434607B5B}"/>
                </a:ext>
              </a:extLst>
            </p:cNvPr>
            <p:cNvSpPr/>
            <p:nvPr/>
          </p:nvSpPr>
          <p:spPr>
            <a:xfrm>
              <a:off x="3546282" y="646041"/>
              <a:ext cx="2138902" cy="1066515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solidFill>
                    <a:schemeClr val="tx1"/>
                  </a:solidFill>
                </a:rPr>
                <a:t>Superintendência Geral do SESI-DN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(Paulo Mol)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tângulo: Cantos Diagonais Arredondados 9">
              <a:extLst>
                <a:ext uri="{FF2B5EF4-FFF2-40B4-BE49-F238E27FC236}">
                  <a16:creationId xmlns:a16="http://schemas.microsoft.com/office/drawing/2014/main" id="{9D134163-448A-B3B3-DF9C-6A2195918FCE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87FA0C5A-B670-405C-8D79-B855999E2FDA}"/>
              </a:ext>
            </a:extLst>
          </p:cNvPr>
          <p:cNvSpPr txBox="1"/>
          <p:nvPr/>
        </p:nvSpPr>
        <p:spPr>
          <a:xfrm>
            <a:off x="90939" y="34939"/>
            <a:ext cx="8116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1"/>
                </a:solidFill>
              </a:rPr>
              <a:t>Superintendência Geral do SESI-DN</a:t>
            </a:r>
            <a:endParaRPr lang="pt-BR" sz="3600" b="1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F0389FA-43E7-617E-661F-8844D0714609}"/>
              </a:ext>
            </a:extLst>
          </p:cNvPr>
          <p:cNvGrpSpPr/>
          <p:nvPr/>
        </p:nvGrpSpPr>
        <p:grpSpPr>
          <a:xfrm>
            <a:off x="1836160" y="2700917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0647A5D3-4BF9-9EA0-0917-AF7E109D9669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Saúde da Indústria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(Emmanuel Lacerda)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tângulo: Cantos Diagonais Arredondados 24">
              <a:extLst>
                <a:ext uri="{FF2B5EF4-FFF2-40B4-BE49-F238E27FC236}">
                  <a16:creationId xmlns:a16="http://schemas.microsoft.com/office/drawing/2014/main" id="{DA47A83B-A6ED-100F-8C20-ACA2B53E10A6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C632BB75-50FF-9058-64E7-36BB6074194A}"/>
              </a:ext>
            </a:extLst>
          </p:cNvPr>
          <p:cNvGrpSpPr/>
          <p:nvPr/>
        </p:nvGrpSpPr>
        <p:grpSpPr>
          <a:xfrm>
            <a:off x="2107249" y="3576969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B522697F-55A2-14CE-2FB2-03A03606998B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Saúde Integral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(Thiago </a:t>
              </a:r>
              <a:r>
                <a:rPr lang="pt-BR" sz="900" i="1" dirty="0" err="1">
                  <a:solidFill>
                    <a:schemeClr val="tx1"/>
                  </a:solidFill>
                </a:rPr>
                <a:t>Taho</a:t>
              </a:r>
              <a:r>
                <a:rPr lang="pt-BR" sz="900" i="1" dirty="0">
                  <a:solidFill>
                    <a:schemeClr val="tx1"/>
                  </a:solidFill>
                </a:rPr>
                <a:t>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55" name="Retângulo: Cantos Diagonais Arredondados 54">
              <a:extLst>
                <a:ext uri="{FF2B5EF4-FFF2-40B4-BE49-F238E27FC236}">
                  <a16:creationId xmlns:a16="http://schemas.microsoft.com/office/drawing/2014/main" id="{6654A3CF-FE34-60F4-7C5D-412775DAA227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16</a:t>
              </a:r>
            </a:p>
          </p:txBody>
        </p:sp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2A7E48D4-4787-B529-E691-E985D26AFBC0}"/>
              </a:ext>
            </a:extLst>
          </p:cNvPr>
          <p:cNvGrpSpPr/>
          <p:nvPr/>
        </p:nvGrpSpPr>
        <p:grpSpPr>
          <a:xfrm>
            <a:off x="2096189" y="4298277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9" name="Retângulo: Cantos Arredondados 138">
              <a:extLst>
                <a:ext uri="{FF2B5EF4-FFF2-40B4-BE49-F238E27FC236}">
                  <a16:creationId xmlns:a16="http://schemas.microsoft.com/office/drawing/2014/main" id="{D9BE1B1C-EFF7-2A1A-3F4A-A9DFBBAA81B1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Segurança e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Saúde do Trabalho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</a:t>
              </a:r>
              <a:r>
                <a:rPr lang="pt-BR" sz="900" i="1" dirty="0" err="1">
                  <a:solidFill>
                    <a:schemeClr val="tx1"/>
                  </a:solidFill>
                </a:rPr>
                <a:t>Katyana</a:t>
              </a:r>
              <a:r>
                <a:rPr lang="pt-BR" sz="900" i="1" dirty="0">
                  <a:solidFill>
                    <a:schemeClr val="tx1"/>
                  </a:solidFill>
                </a:rPr>
                <a:t> Menescal)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0" name="Retângulo: Cantos Diagonais Arredondados 139">
              <a:extLst>
                <a:ext uri="{FF2B5EF4-FFF2-40B4-BE49-F238E27FC236}">
                  <a16:creationId xmlns:a16="http://schemas.microsoft.com/office/drawing/2014/main" id="{CDC56F71-E457-8D17-430E-D40967621733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12</a:t>
              </a:r>
            </a:p>
          </p:txBody>
        </p:sp>
      </p:grpSp>
      <p:cxnSp>
        <p:nvCxnSpPr>
          <p:cNvPr id="166" name="Conector reto 165">
            <a:extLst>
              <a:ext uri="{FF2B5EF4-FFF2-40B4-BE49-F238E27FC236}">
                <a16:creationId xmlns:a16="http://schemas.microsoft.com/office/drawing/2014/main" id="{09B4CC35-E7A0-9807-F110-FC3C40CB7B30}"/>
              </a:ext>
            </a:extLst>
          </p:cNvPr>
          <p:cNvCxnSpPr>
            <a:cxnSpLocks/>
            <a:stCxn id="24" idx="1"/>
            <a:endCxn id="54" idx="1"/>
          </p:cNvCxnSpPr>
          <p:nvPr/>
        </p:nvCxnSpPr>
        <p:spPr>
          <a:xfrm rot="10800000" flipH="1" flipV="1">
            <a:off x="1836159" y="3061708"/>
            <a:ext cx="271089" cy="829918"/>
          </a:xfrm>
          <a:prstGeom prst="bentConnector3">
            <a:avLst>
              <a:gd name="adj1" fmla="val -843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Conector reto 167">
            <a:extLst>
              <a:ext uri="{FF2B5EF4-FFF2-40B4-BE49-F238E27FC236}">
                <a16:creationId xmlns:a16="http://schemas.microsoft.com/office/drawing/2014/main" id="{E6C0F34C-8C23-A8E1-B048-2FC18B923B64}"/>
              </a:ext>
            </a:extLst>
          </p:cNvPr>
          <p:cNvCxnSpPr>
            <a:cxnSpLocks/>
            <a:stCxn id="24" idx="1"/>
            <a:endCxn id="139" idx="1"/>
          </p:cNvCxnSpPr>
          <p:nvPr/>
        </p:nvCxnSpPr>
        <p:spPr>
          <a:xfrm rot="10800000" flipH="1" flipV="1">
            <a:off x="1836159" y="3061708"/>
            <a:ext cx="260029" cy="1551226"/>
          </a:xfrm>
          <a:prstGeom prst="bentConnector3">
            <a:avLst>
              <a:gd name="adj1" fmla="val -8791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49A1BABF-FA6B-6D90-7796-54049A07B7DC}"/>
              </a:ext>
            </a:extLst>
          </p:cNvPr>
          <p:cNvGrpSpPr/>
          <p:nvPr/>
        </p:nvGrpSpPr>
        <p:grpSpPr>
          <a:xfrm>
            <a:off x="2107246" y="5030383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C6936D7A-94DD-FCDC-923A-B441DC529B1B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Inovação da Saúde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(Paulo Alvim)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tângulo: Cantos Diagonais Arredondados 15">
              <a:extLst>
                <a:ext uri="{FF2B5EF4-FFF2-40B4-BE49-F238E27FC236}">
                  <a16:creationId xmlns:a16="http://schemas.microsoft.com/office/drawing/2014/main" id="{4F674291-77A7-AE0D-24A4-94078D5CD71D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8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B4694DE-A239-9B9C-E959-9BB294C98063}"/>
              </a:ext>
            </a:extLst>
          </p:cNvPr>
          <p:cNvGrpSpPr/>
          <p:nvPr/>
        </p:nvGrpSpPr>
        <p:grpSpPr>
          <a:xfrm>
            <a:off x="5021556" y="2700917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0960221-351E-1643-6CC2-2E4A95E32A53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Cultura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(Claudia Ramalho)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tângulo: Cantos Diagonais Arredondados 21">
              <a:extLst>
                <a:ext uri="{FF2B5EF4-FFF2-40B4-BE49-F238E27FC236}">
                  <a16:creationId xmlns:a16="http://schemas.microsoft.com/office/drawing/2014/main" id="{12DC6961-6384-11D0-4BEA-1F112AC714A9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7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7FAC0DE8-FE7D-C4FB-1F1F-4F961C548BEE}"/>
              </a:ext>
            </a:extLst>
          </p:cNvPr>
          <p:cNvGrpSpPr/>
          <p:nvPr/>
        </p:nvGrpSpPr>
        <p:grpSpPr>
          <a:xfrm>
            <a:off x="5292645" y="3576969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700CC726-F54B-8ECF-397E-08A3D37FEF4C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Desenvolvimento Institucional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</a:t>
              </a:r>
              <a:r>
                <a:rPr lang="pt-BR" sz="900" i="1" dirty="0" err="1">
                  <a:solidFill>
                    <a:schemeClr val="tx1"/>
                  </a:solidFill>
                </a:rPr>
                <a:t>Candida</a:t>
              </a:r>
              <a:r>
                <a:rPr lang="pt-BR" sz="900" i="1" dirty="0">
                  <a:solidFill>
                    <a:schemeClr val="tx1"/>
                  </a:solidFill>
                </a:rPr>
                <a:t> Oliveira)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tângulo: Cantos Diagonais Arredondados 27">
              <a:extLst>
                <a:ext uri="{FF2B5EF4-FFF2-40B4-BE49-F238E27FC236}">
                  <a16:creationId xmlns:a16="http://schemas.microsoft.com/office/drawing/2014/main" id="{09DEDA30-F70B-B5D1-A34F-2A025A27ADE1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23</a:t>
              </a:r>
            </a:p>
          </p:txBody>
        </p:sp>
      </p:grpSp>
      <p:cxnSp>
        <p:nvCxnSpPr>
          <p:cNvPr id="32" name="Conector reto 165">
            <a:extLst>
              <a:ext uri="{FF2B5EF4-FFF2-40B4-BE49-F238E27FC236}">
                <a16:creationId xmlns:a16="http://schemas.microsoft.com/office/drawing/2014/main" id="{B88340E0-E89A-1427-3B63-34E39E154C9F}"/>
              </a:ext>
            </a:extLst>
          </p:cNvPr>
          <p:cNvCxnSpPr>
            <a:cxnSpLocks/>
            <a:stCxn id="21" idx="1"/>
            <a:endCxn id="27" idx="1"/>
          </p:cNvCxnSpPr>
          <p:nvPr/>
        </p:nvCxnSpPr>
        <p:spPr>
          <a:xfrm rot="10800000" flipH="1" flipV="1">
            <a:off x="5021555" y="3061708"/>
            <a:ext cx="271089" cy="829918"/>
          </a:xfrm>
          <a:prstGeom prst="bentConnector3">
            <a:avLst>
              <a:gd name="adj1" fmla="val -843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5EFD1251-7964-5828-47AA-D932B697E0CD}"/>
              </a:ext>
            </a:extLst>
          </p:cNvPr>
          <p:cNvGrpSpPr/>
          <p:nvPr/>
        </p:nvGrpSpPr>
        <p:grpSpPr>
          <a:xfrm>
            <a:off x="8211822" y="271768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9C7DA408-0E6D-E516-54D0-E0F40A0DBECB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Educação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</a:t>
              </a:r>
              <a:r>
                <a:rPr lang="pt-BR" sz="1050" i="1" dirty="0" err="1">
                  <a:solidFill>
                    <a:schemeClr val="tx1"/>
                  </a:solidFill>
                </a:rPr>
                <a:t>Wisley</a:t>
              </a:r>
              <a:r>
                <a:rPr lang="pt-BR" sz="1050" i="1" dirty="0">
                  <a:solidFill>
                    <a:schemeClr val="tx1"/>
                  </a:solidFill>
                </a:rPr>
                <a:t> Pereira)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57" name="Retângulo: Cantos Diagonais Arredondados 56">
              <a:extLst>
                <a:ext uri="{FF2B5EF4-FFF2-40B4-BE49-F238E27FC236}">
                  <a16:creationId xmlns:a16="http://schemas.microsoft.com/office/drawing/2014/main" id="{DC4B0E39-E2BB-27A9-1E9F-884D35C6DF00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7</a:t>
              </a: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73C29103-EF8A-9638-45E2-6B1A28B1C8C9}"/>
              </a:ext>
            </a:extLst>
          </p:cNvPr>
          <p:cNvGrpSpPr/>
          <p:nvPr/>
        </p:nvGrpSpPr>
        <p:grpSpPr>
          <a:xfrm>
            <a:off x="8482911" y="359374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E5F56398-D1D4-4833-F8B3-222132BF6479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Formação em Educação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(Katia Barbosa)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60" name="Retângulo: Cantos Diagonais Arredondados 59">
              <a:extLst>
                <a:ext uri="{FF2B5EF4-FFF2-40B4-BE49-F238E27FC236}">
                  <a16:creationId xmlns:a16="http://schemas.microsoft.com/office/drawing/2014/main" id="{A25E49E7-05A5-B243-C0F2-53EAE7DB1AC4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14</a:t>
              </a:r>
            </a:p>
          </p:txBody>
        </p: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F25E157D-252A-B8A8-9A20-CA90882E62D5}"/>
              </a:ext>
            </a:extLst>
          </p:cNvPr>
          <p:cNvGrpSpPr/>
          <p:nvPr/>
        </p:nvGrpSpPr>
        <p:grpSpPr>
          <a:xfrm>
            <a:off x="8471851" y="4315049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2" name="Retângulo: Cantos Arredondados 61">
              <a:extLst>
                <a:ext uri="{FF2B5EF4-FFF2-40B4-BE49-F238E27FC236}">
                  <a16:creationId xmlns:a16="http://schemas.microsoft.com/office/drawing/2014/main" id="{6ED101DF-D9AE-A690-4229-04589401AD34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Tecnologias Educacionais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</a:t>
              </a:r>
              <a:r>
                <a:rPr lang="pt-BR" sz="900" i="1" dirty="0" err="1">
                  <a:solidFill>
                    <a:schemeClr val="tx1"/>
                  </a:solidFill>
                </a:rPr>
                <a:t>Arioston</a:t>
              </a:r>
              <a:r>
                <a:rPr lang="pt-BR" sz="900" i="1" dirty="0">
                  <a:solidFill>
                    <a:schemeClr val="tx1"/>
                  </a:solidFill>
                </a:rPr>
                <a:t> Rodrigues)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63" name="Retângulo: Cantos Diagonais Arredondados 62">
              <a:extLst>
                <a:ext uri="{FF2B5EF4-FFF2-40B4-BE49-F238E27FC236}">
                  <a16:creationId xmlns:a16="http://schemas.microsoft.com/office/drawing/2014/main" id="{52286584-78C4-9328-2100-C4DA27059BF5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13</a:t>
              </a:r>
            </a:p>
          </p:txBody>
        </p:sp>
      </p:grpSp>
      <p:cxnSp>
        <p:nvCxnSpPr>
          <p:cNvPr id="128" name="Conector reto 165">
            <a:extLst>
              <a:ext uri="{FF2B5EF4-FFF2-40B4-BE49-F238E27FC236}">
                <a16:creationId xmlns:a16="http://schemas.microsoft.com/office/drawing/2014/main" id="{6777BDC0-F31F-0205-4980-60C387B489A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206954" y="3068210"/>
            <a:ext cx="271089" cy="829918"/>
          </a:xfrm>
          <a:prstGeom prst="bentConnector3">
            <a:avLst>
              <a:gd name="adj1" fmla="val -356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Conector reto 167">
            <a:extLst>
              <a:ext uri="{FF2B5EF4-FFF2-40B4-BE49-F238E27FC236}">
                <a16:creationId xmlns:a16="http://schemas.microsoft.com/office/drawing/2014/main" id="{C64387BA-1C4E-2C56-3429-312360EAF887}"/>
              </a:ext>
            </a:extLst>
          </p:cNvPr>
          <p:cNvCxnSpPr>
            <a:cxnSpLocks/>
            <a:stCxn id="56" idx="1"/>
            <a:endCxn id="62" idx="1"/>
          </p:cNvCxnSpPr>
          <p:nvPr/>
        </p:nvCxnSpPr>
        <p:spPr>
          <a:xfrm rot="10800000" flipH="1" flipV="1">
            <a:off x="8211821" y="3078480"/>
            <a:ext cx="260029" cy="1551226"/>
          </a:xfrm>
          <a:prstGeom prst="bentConnector3">
            <a:avLst>
              <a:gd name="adj1" fmla="val -3907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Conector reto 167">
            <a:extLst>
              <a:ext uri="{FF2B5EF4-FFF2-40B4-BE49-F238E27FC236}">
                <a16:creationId xmlns:a16="http://schemas.microsoft.com/office/drawing/2014/main" id="{BB7BC578-FC54-EF71-9544-4375B7384DD5}"/>
              </a:ext>
            </a:extLst>
          </p:cNvPr>
          <p:cNvCxnSpPr>
            <a:cxnSpLocks/>
            <a:stCxn id="24" idx="1"/>
            <a:endCxn id="15" idx="1"/>
          </p:cNvCxnSpPr>
          <p:nvPr/>
        </p:nvCxnSpPr>
        <p:spPr>
          <a:xfrm rot="10800000" flipH="1" flipV="1">
            <a:off x="1836160" y="3061708"/>
            <a:ext cx="271086" cy="2283332"/>
          </a:xfrm>
          <a:prstGeom prst="bentConnector3">
            <a:avLst>
              <a:gd name="adj1" fmla="val -843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6C20F0EE-78D9-54F9-9C4D-BF781919D966}"/>
              </a:ext>
            </a:extLst>
          </p:cNvPr>
          <p:cNvGrpSpPr/>
          <p:nvPr/>
        </p:nvGrpSpPr>
        <p:grpSpPr>
          <a:xfrm>
            <a:off x="8482911" y="5030383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598FDD9D-DBE9-92EA-2CCA-D5E1301A9B3E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Tecnologias Educação Básica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(Diego de Souza)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36" name="Retângulo: Cantos Diagonais Arredondados 35">
              <a:extLst>
                <a:ext uri="{FF2B5EF4-FFF2-40B4-BE49-F238E27FC236}">
                  <a16:creationId xmlns:a16="http://schemas.microsoft.com/office/drawing/2014/main" id="{A103C5EC-3EE2-2D79-21B2-AD0387902EDF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14</a:t>
              </a:r>
            </a:p>
          </p:txBody>
        </p:sp>
      </p:grpSp>
      <p:cxnSp>
        <p:nvCxnSpPr>
          <p:cNvPr id="38" name="Conector reto 167">
            <a:extLst>
              <a:ext uri="{FF2B5EF4-FFF2-40B4-BE49-F238E27FC236}">
                <a16:creationId xmlns:a16="http://schemas.microsoft.com/office/drawing/2014/main" id="{6DCC05F4-C1E0-F858-5F17-9FC165D7D0FB}"/>
              </a:ext>
            </a:extLst>
          </p:cNvPr>
          <p:cNvCxnSpPr>
            <a:cxnSpLocks/>
            <a:stCxn id="56" idx="1"/>
            <a:endCxn id="13" idx="1"/>
          </p:cNvCxnSpPr>
          <p:nvPr/>
        </p:nvCxnSpPr>
        <p:spPr>
          <a:xfrm rot="10800000" flipH="1" flipV="1">
            <a:off x="8211821" y="3078480"/>
            <a:ext cx="271089" cy="2266560"/>
          </a:xfrm>
          <a:prstGeom prst="bentConnector3">
            <a:avLst>
              <a:gd name="adj1" fmla="val -356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59C13AA3-BF65-083C-E444-FF90FF3B81DD}"/>
              </a:ext>
            </a:extLst>
          </p:cNvPr>
          <p:cNvCxnSpPr>
            <a:cxnSpLocks/>
            <a:stCxn id="9" idx="2"/>
            <a:endCxn id="21" idx="0"/>
          </p:cNvCxnSpPr>
          <p:nvPr/>
        </p:nvCxnSpPr>
        <p:spPr>
          <a:xfrm flipH="1">
            <a:off x="6091007" y="2337540"/>
            <a:ext cx="1" cy="363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C2609D9D-7AE5-A857-F23A-3BC635BE2D50}"/>
              </a:ext>
            </a:extLst>
          </p:cNvPr>
          <p:cNvCxnSpPr>
            <a:cxnSpLocks/>
            <a:stCxn id="24" idx="0"/>
            <a:endCxn id="9" idx="1"/>
          </p:cNvCxnSpPr>
          <p:nvPr/>
        </p:nvCxnSpPr>
        <p:spPr>
          <a:xfrm rot="5400000" flipH="1" flipV="1">
            <a:off x="3491764" y="1218130"/>
            <a:ext cx="896634" cy="2068940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E2BDD6FF-2D80-3529-F5C9-CE50AE65BAF9}"/>
              </a:ext>
            </a:extLst>
          </p:cNvPr>
          <p:cNvCxnSpPr>
            <a:cxnSpLocks/>
            <a:stCxn id="56" idx="0"/>
            <a:endCxn id="9" idx="3"/>
          </p:cNvCxnSpPr>
          <p:nvPr/>
        </p:nvCxnSpPr>
        <p:spPr>
          <a:xfrm rot="16200000" flipV="1">
            <a:off x="7787666" y="1224082"/>
            <a:ext cx="913406" cy="2073808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Retângulo: Cantos Arredondados 133">
            <a:extLst>
              <a:ext uri="{FF2B5EF4-FFF2-40B4-BE49-F238E27FC236}">
                <a16:creationId xmlns:a16="http://schemas.microsoft.com/office/drawing/2014/main" id="{7E60AF92-396E-8421-8FEB-1085A4C02A73}"/>
              </a:ext>
            </a:extLst>
          </p:cNvPr>
          <p:cNvSpPr/>
          <p:nvPr/>
        </p:nvSpPr>
        <p:spPr>
          <a:xfrm>
            <a:off x="9674548" y="1441722"/>
            <a:ext cx="2138902" cy="721581"/>
          </a:xfrm>
          <a:prstGeom prst="roundRect">
            <a:avLst>
              <a:gd name="adj" fmla="val 9109"/>
            </a:avLst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tx1"/>
                </a:solidFill>
              </a:rPr>
              <a:t>Superintendência de</a:t>
            </a:r>
            <a:br>
              <a:rPr lang="pt-BR" sz="1200" b="1" dirty="0">
                <a:solidFill>
                  <a:schemeClr val="tx1"/>
                </a:solidFill>
              </a:rPr>
            </a:br>
            <a:r>
              <a:rPr lang="pt-BR" sz="1200" b="1" dirty="0">
                <a:solidFill>
                  <a:schemeClr val="tx1"/>
                </a:solidFill>
              </a:rPr>
              <a:t>Gestão e Desempenho</a:t>
            </a:r>
            <a:br>
              <a:rPr lang="pt-BR" sz="1600" b="1" dirty="0">
                <a:solidFill>
                  <a:schemeClr val="tx1"/>
                </a:solidFill>
              </a:rPr>
            </a:br>
            <a:r>
              <a:rPr lang="pt-BR" sz="1050" i="1" dirty="0">
                <a:solidFill>
                  <a:schemeClr val="tx1"/>
                </a:solidFill>
              </a:rPr>
              <a:t>(Felipe Morgado)</a:t>
            </a:r>
            <a:endParaRPr lang="pt-BR" sz="1600" i="1" dirty="0">
              <a:solidFill>
                <a:schemeClr val="tx1"/>
              </a:solidFill>
            </a:endParaRPr>
          </a:p>
        </p:txBody>
      </p:sp>
      <p:cxnSp>
        <p:nvCxnSpPr>
          <p:cNvPr id="136" name="Conector reto 50">
            <a:extLst>
              <a:ext uri="{FF2B5EF4-FFF2-40B4-BE49-F238E27FC236}">
                <a16:creationId xmlns:a16="http://schemas.microsoft.com/office/drawing/2014/main" id="{8B10FBC8-9828-7260-F4E9-5EE6485D4DBD}"/>
              </a:ext>
            </a:extLst>
          </p:cNvPr>
          <p:cNvCxnSpPr>
            <a:cxnSpLocks/>
            <a:stCxn id="134" idx="1"/>
            <a:endCxn id="9" idx="3"/>
          </p:cNvCxnSpPr>
          <p:nvPr/>
        </p:nvCxnSpPr>
        <p:spPr>
          <a:xfrm rot="10800000" flipV="1">
            <a:off x="7207466" y="1802513"/>
            <a:ext cx="2467083" cy="1770"/>
          </a:xfrm>
          <a:prstGeom prst="bentConnector3">
            <a:avLst>
              <a:gd name="adj1" fmla="val 50000"/>
            </a:avLst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C9F45C-4E52-88C3-5F42-291EAA8E57A8}"/>
              </a:ext>
            </a:extLst>
          </p:cNvPr>
          <p:cNvSpPr txBox="1"/>
          <p:nvPr/>
        </p:nvSpPr>
        <p:spPr>
          <a:xfrm>
            <a:off x="11120398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sp>
        <p:nvSpPr>
          <p:cNvPr id="5" name="Retângulo: Cantos Diagonais Arredondados 4">
            <a:extLst>
              <a:ext uri="{FF2B5EF4-FFF2-40B4-BE49-F238E27FC236}">
                <a16:creationId xmlns:a16="http://schemas.microsoft.com/office/drawing/2014/main" id="{0EBA30EB-D091-214E-6DA2-FABE8A7D9D69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120</a:t>
            </a:r>
            <a:endParaRPr lang="pt-BR" sz="3200" b="1" dirty="0"/>
          </a:p>
        </p:txBody>
      </p:sp>
      <p:sp>
        <p:nvSpPr>
          <p:cNvPr id="4" name="Retângulo: Cantos Diagonais Arredondados 3">
            <a:extLst>
              <a:ext uri="{FF2B5EF4-FFF2-40B4-BE49-F238E27FC236}">
                <a16:creationId xmlns:a16="http://schemas.microsoft.com/office/drawing/2014/main" id="{C35709A5-2103-6AE1-8461-C4D43BEF4B1C}"/>
              </a:ext>
            </a:extLst>
          </p:cNvPr>
          <p:cNvSpPr/>
          <p:nvPr/>
        </p:nvSpPr>
        <p:spPr>
          <a:xfrm>
            <a:off x="3455051" y="2397175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39</a:t>
            </a:r>
          </a:p>
        </p:txBody>
      </p:sp>
      <p:sp>
        <p:nvSpPr>
          <p:cNvPr id="17" name="Retângulo: Cantos Diagonais Arredondados 16">
            <a:extLst>
              <a:ext uri="{FF2B5EF4-FFF2-40B4-BE49-F238E27FC236}">
                <a16:creationId xmlns:a16="http://schemas.microsoft.com/office/drawing/2014/main" id="{1B160EF1-0147-E687-EB4E-BCEB76FBD018}"/>
              </a:ext>
            </a:extLst>
          </p:cNvPr>
          <p:cNvSpPr/>
          <p:nvPr/>
        </p:nvSpPr>
        <p:spPr>
          <a:xfrm>
            <a:off x="6675427" y="2420217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30</a:t>
            </a:r>
          </a:p>
        </p:txBody>
      </p:sp>
      <p:sp>
        <p:nvSpPr>
          <p:cNvPr id="19" name="Retângulo: Cantos Diagonais Arredondados 18">
            <a:extLst>
              <a:ext uri="{FF2B5EF4-FFF2-40B4-BE49-F238E27FC236}">
                <a16:creationId xmlns:a16="http://schemas.microsoft.com/office/drawing/2014/main" id="{4B64F579-9BD3-9BCF-241C-CF2AF2233702}"/>
              </a:ext>
            </a:extLst>
          </p:cNvPr>
          <p:cNvSpPr/>
          <p:nvPr/>
        </p:nvSpPr>
        <p:spPr>
          <a:xfrm>
            <a:off x="9854633" y="2397174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262457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7E7D8-6690-627B-C632-5E736901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A3B2A230-6948-3891-96F1-6E1D182E875D}"/>
              </a:ext>
            </a:extLst>
          </p:cNvPr>
          <p:cNvCxnSpPr>
            <a:cxnSpLocks/>
            <a:stCxn id="24" idx="0"/>
            <a:endCxn id="9" idx="2"/>
          </p:cNvCxnSpPr>
          <p:nvPr/>
        </p:nvCxnSpPr>
        <p:spPr>
          <a:xfrm rot="5400000" flipH="1" flipV="1">
            <a:off x="5009992" y="831646"/>
            <a:ext cx="988783" cy="2802841"/>
          </a:xfrm>
          <a:prstGeom prst="bentConnector3">
            <a:avLst>
              <a:gd name="adj1" fmla="val 3437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99529446-A32B-51B1-0F85-D3975F1F39BE}"/>
              </a:ext>
            </a:extLst>
          </p:cNvPr>
          <p:cNvGrpSpPr/>
          <p:nvPr/>
        </p:nvGrpSpPr>
        <p:grpSpPr>
          <a:xfrm>
            <a:off x="5789347" y="672158"/>
            <a:ext cx="2232914" cy="1066516"/>
            <a:chOff x="3992241" y="654944"/>
            <a:chExt cx="2138902" cy="10665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00C13ACE-B7B5-74EE-4B64-F0DB08318D8D}"/>
                </a:ext>
              </a:extLst>
            </p:cNvPr>
            <p:cNvSpPr/>
            <p:nvPr/>
          </p:nvSpPr>
          <p:spPr>
            <a:xfrm>
              <a:off x="3992241" y="654945"/>
              <a:ext cx="2138902" cy="1066515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solidFill>
                    <a:schemeClr val="tx1"/>
                  </a:solidFill>
                </a:rPr>
                <a:t>Diretoria Geral do SENAI-DN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(Leone Andrade)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tângulo: Cantos Diagonais Arredondados 9">
              <a:extLst>
                <a:ext uri="{FF2B5EF4-FFF2-40B4-BE49-F238E27FC236}">
                  <a16:creationId xmlns:a16="http://schemas.microsoft.com/office/drawing/2014/main" id="{E72A96BA-6766-0C0C-7731-DEA041ED6C51}"/>
                </a:ext>
              </a:extLst>
            </p:cNvPr>
            <p:cNvSpPr/>
            <p:nvPr/>
          </p:nvSpPr>
          <p:spPr>
            <a:xfrm>
              <a:off x="5646113" y="654944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6</a:t>
              </a:r>
            </a:p>
          </p:txBody>
        </p:sp>
      </p:grp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338D79D3-CD09-2840-C743-3DF828EF9313}"/>
              </a:ext>
            </a:extLst>
          </p:cNvPr>
          <p:cNvSpPr txBox="1"/>
          <p:nvPr/>
        </p:nvSpPr>
        <p:spPr>
          <a:xfrm>
            <a:off x="90940" y="34939"/>
            <a:ext cx="7441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1"/>
                </a:solidFill>
              </a:rPr>
              <a:t>Diretoria Geral do SENAI-DN</a:t>
            </a:r>
            <a:endParaRPr lang="pt-BR" sz="3600" b="1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1303E47-9C54-8D35-632A-1026BC1B4BD4}"/>
              </a:ext>
            </a:extLst>
          </p:cNvPr>
          <p:cNvGrpSpPr/>
          <p:nvPr/>
        </p:nvGrpSpPr>
        <p:grpSpPr>
          <a:xfrm>
            <a:off x="3033512" y="2727457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A1B63D1D-1F2D-0E10-78F0-778E7CC8FA41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Educação Profissional e Superior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(Carlos </a:t>
              </a:r>
              <a:r>
                <a:rPr lang="pt-BR" sz="1050" i="1" dirty="0" err="1">
                  <a:solidFill>
                    <a:schemeClr val="tx1"/>
                  </a:solidFill>
                </a:rPr>
                <a:t>Braguini</a:t>
              </a:r>
              <a:r>
                <a:rPr lang="pt-BR" sz="1050" i="1" dirty="0">
                  <a:solidFill>
                    <a:schemeClr val="tx1"/>
                  </a:solidFill>
                </a:rPr>
                <a:t>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tângulo: Cantos Diagonais Arredondados 24">
              <a:extLst>
                <a:ext uri="{FF2B5EF4-FFF2-40B4-BE49-F238E27FC236}">
                  <a16:creationId xmlns:a16="http://schemas.microsoft.com/office/drawing/2014/main" id="{5204180B-F12F-B05C-7EE8-4A3FF19A9498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5</a:t>
              </a: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B62E72E7-D5CB-0ADF-4581-5CD327031C3B}"/>
              </a:ext>
            </a:extLst>
          </p:cNvPr>
          <p:cNvGrpSpPr/>
          <p:nvPr/>
        </p:nvGrpSpPr>
        <p:grpSpPr>
          <a:xfrm>
            <a:off x="3304601" y="3603509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0E652655-B4D4-4DE2-FF58-49A2BA8F1102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Educação Profissional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 Superior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(Mateus Freitas)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55" name="Retângulo: Cantos Diagonais Arredondados 54">
              <a:extLst>
                <a:ext uri="{FF2B5EF4-FFF2-40B4-BE49-F238E27FC236}">
                  <a16:creationId xmlns:a16="http://schemas.microsoft.com/office/drawing/2014/main" id="{28727982-B80E-E791-D093-72A8E3511C74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23</a:t>
              </a:r>
            </a:p>
          </p:txBody>
        </p:sp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9B4833DE-8A8A-1C2E-60B1-7A81AAF8F4FA}"/>
              </a:ext>
            </a:extLst>
          </p:cNvPr>
          <p:cNvGrpSpPr/>
          <p:nvPr/>
        </p:nvGrpSpPr>
        <p:grpSpPr>
          <a:xfrm>
            <a:off x="3293541" y="4324817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9" name="Retângulo: Cantos Arredondados 138">
              <a:extLst>
                <a:ext uri="{FF2B5EF4-FFF2-40B4-BE49-F238E27FC236}">
                  <a16:creationId xmlns:a16="http://schemas.microsoft.com/office/drawing/2014/main" id="{9EAEC8BB-3CEA-D717-74A1-51694AD073D7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Tecnologias Educacionais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(Luiz Eduardo Leão)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0" name="Retângulo: Cantos Diagonais Arredondados 139">
              <a:extLst>
                <a:ext uri="{FF2B5EF4-FFF2-40B4-BE49-F238E27FC236}">
                  <a16:creationId xmlns:a16="http://schemas.microsoft.com/office/drawing/2014/main" id="{DD21AEA8-2B3D-3BBC-79E3-28CA4F503BC7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22</a:t>
              </a:r>
            </a:p>
          </p:txBody>
        </p:sp>
      </p:grpSp>
      <p:cxnSp>
        <p:nvCxnSpPr>
          <p:cNvPr id="166" name="Conector reto 165">
            <a:extLst>
              <a:ext uri="{FF2B5EF4-FFF2-40B4-BE49-F238E27FC236}">
                <a16:creationId xmlns:a16="http://schemas.microsoft.com/office/drawing/2014/main" id="{8072FF32-E678-150F-CB2B-062BC7AF6D2D}"/>
              </a:ext>
            </a:extLst>
          </p:cNvPr>
          <p:cNvCxnSpPr>
            <a:cxnSpLocks/>
            <a:stCxn id="24" idx="1"/>
            <a:endCxn id="54" idx="1"/>
          </p:cNvCxnSpPr>
          <p:nvPr/>
        </p:nvCxnSpPr>
        <p:spPr>
          <a:xfrm rot="10800000" flipH="1" flipV="1">
            <a:off x="3033511" y="3088248"/>
            <a:ext cx="271089" cy="829918"/>
          </a:xfrm>
          <a:prstGeom prst="bentConnector3">
            <a:avLst>
              <a:gd name="adj1" fmla="val -843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Conector reto 167">
            <a:extLst>
              <a:ext uri="{FF2B5EF4-FFF2-40B4-BE49-F238E27FC236}">
                <a16:creationId xmlns:a16="http://schemas.microsoft.com/office/drawing/2014/main" id="{A50AC7FE-20A9-7766-F9B9-EE230F7B4CCD}"/>
              </a:ext>
            </a:extLst>
          </p:cNvPr>
          <p:cNvCxnSpPr>
            <a:cxnSpLocks/>
            <a:stCxn id="24" idx="1"/>
            <a:endCxn id="139" idx="1"/>
          </p:cNvCxnSpPr>
          <p:nvPr/>
        </p:nvCxnSpPr>
        <p:spPr>
          <a:xfrm rot="10800000" flipH="1" flipV="1">
            <a:off x="3033511" y="3088248"/>
            <a:ext cx="260029" cy="1551226"/>
          </a:xfrm>
          <a:prstGeom prst="bentConnector3">
            <a:avLst>
              <a:gd name="adj1" fmla="val -8791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8926BE2D-25B3-D2C5-EA4F-321F05BFB59D}"/>
              </a:ext>
            </a:extLst>
          </p:cNvPr>
          <p:cNvGrpSpPr/>
          <p:nvPr/>
        </p:nvGrpSpPr>
        <p:grpSpPr>
          <a:xfrm>
            <a:off x="5836353" y="2727457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CD34DC98-5E1D-FCF3-5EAD-FB93890DD0BB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 de Inovação e Tecnologia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(Roberto Medeiros)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tângulo: Cantos Diagonais Arredondados 21">
              <a:extLst>
                <a:ext uri="{FF2B5EF4-FFF2-40B4-BE49-F238E27FC236}">
                  <a16:creationId xmlns:a16="http://schemas.microsoft.com/office/drawing/2014/main" id="{31EF53D8-5DF7-67CB-B819-9C79D841B400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3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F233DABC-8C19-33B1-1606-41D3D02AEC5C}"/>
              </a:ext>
            </a:extLst>
          </p:cNvPr>
          <p:cNvGrpSpPr/>
          <p:nvPr/>
        </p:nvGrpSpPr>
        <p:grpSpPr>
          <a:xfrm>
            <a:off x="6107442" y="3603509"/>
            <a:ext cx="1867813" cy="646084"/>
            <a:chOff x="3546281" y="646041"/>
            <a:chExt cx="1798620" cy="646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473A9922-1C99-10D6-D231-02CBFD62E344}"/>
                </a:ext>
              </a:extLst>
            </p:cNvPr>
            <p:cNvSpPr/>
            <p:nvPr/>
          </p:nvSpPr>
          <p:spPr>
            <a:xfrm>
              <a:off x="3546281" y="646042"/>
              <a:ext cx="1798619" cy="646083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do ISI em Biodiversidade e Economia Celular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tângulo: Cantos Diagonais Arredondados 27">
              <a:extLst>
                <a:ext uri="{FF2B5EF4-FFF2-40B4-BE49-F238E27FC236}">
                  <a16:creationId xmlns:a16="http://schemas.microsoft.com/office/drawing/2014/main" id="{FE25E86F-F482-78DD-47AA-1366038C8572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11</a:t>
              </a:r>
            </a:p>
          </p:txBody>
        </p:sp>
      </p:grpSp>
      <p:cxnSp>
        <p:nvCxnSpPr>
          <p:cNvPr id="32" name="Conector reto 165">
            <a:extLst>
              <a:ext uri="{FF2B5EF4-FFF2-40B4-BE49-F238E27FC236}">
                <a16:creationId xmlns:a16="http://schemas.microsoft.com/office/drawing/2014/main" id="{A49B04A8-3F81-8543-34D9-B172B05C3FC9}"/>
              </a:ext>
            </a:extLst>
          </p:cNvPr>
          <p:cNvCxnSpPr>
            <a:cxnSpLocks/>
            <a:stCxn id="21" idx="1"/>
            <a:endCxn id="27" idx="1"/>
          </p:cNvCxnSpPr>
          <p:nvPr/>
        </p:nvCxnSpPr>
        <p:spPr>
          <a:xfrm rot="10800000" flipH="1" flipV="1">
            <a:off x="5836352" y="3088248"/>
            <a:ext cx="271089" cy="838304"/>
          </a:xfrm>
          <a:prstGeom prst="bentConnector3">
            <a:avLst>
              <a:gd name="adj1" fmla="val -843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0A6D46E9-7255-D8C0-281E-B9DFF6EE5364}"/>
              </a:ext>
            </a:extLst>
          </p:cNvPr>
          <p:cNvGrpSpPr/>
          <p:nvPr/>
        </p:nvGrpSpPr>
        <p:grpSpPr>
          <a:xfrm>
            <a:off x="9026619" y="2744229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33186B8D-6AF8-63D1-A694-227619002992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de Gestão e Desempenho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(Felipe Morgado)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57" name="Retângulo: Cantos Diagonais Arredondados 56">
              <a:extLst>
                <a:ext uri="{FF2B5EF4-FFF2-40B4-BE49-F238E27FC236}">
                  <a16:creationId xmlns:a16="http://schemas.microsoft.com/office/drawing/2014/main" id="{722C0F3D-BE77-0B75-0639-8CFD2462CA5C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4</a:t>
              </a: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A003DE71-65C2-9104-3A85-A27896DBA580}"/>
              </a:ext>
            </a:extLst>
          </p:cNvPr>
          <p:cNvGrpSpPr/>
          <p:nvPr/>
        </p:nvGrpSpPr>
        <p:grpSpPr>
          <a:xfrm>
            <a:off x="9297708" y="3620281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1A3D5CA8-ECD0-1F75-0646-C094A1B549BE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Estratégia e Desempenho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(Júlio Sérgio Oliveira)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60" name="Retângulo: Cantos Diagonais Arredondados 59">
              <a:extLst>
                <a:ext uri="{FF2B5EF4-FFF2-40B4-BE49-F238E27FC236}">
                  <a16:creationId xmlns:a16="http://schemas.microsoft.com/office/drawing/2014/main" id="{FE5A7CBB-7716-59C5-DF03-97C6F301C536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7</a:t>
              </a:r>
            </a:p>
          </p:txBody>
        </p: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51E93783-69F9-AD4D-E405-BCABC9623123}"/>
              </a:ext>
            </a:extLst>
          </p:cNvPr>
          <p:cNvGrpSpPr/>
          <p:nvPr/>
        </p:nvGrpSpPr>
        <p:grpSpPr>
          <a:xfrm>
            <a:off x="9286648" y="4341589"/>
            <a:ext cx="1867813" cy="829918"/>
            <a:chOff x="3546281" y="646041"/>
            <a:chExt cx="1798620" cy="71533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2" name="Retângulo: Cantos Arredondados 61">
              <a:extLst>
                <a:ext uri="{FF2B5EF4-FFF2-40B4-BE49-F238E27FC236}">
                  <a16:creationId xmlns:a16="http://schemas.microsoft.com/office/drawing/2014/main" id="{E8A8DC1B-DE72-D6DB-90A0-B11A25A642F4}"/>
                </a:ext>
              </a:extLst>
            </p:cNvPr>
            <p:cNvSpPr/>
            <p:nvPr/>
          </p:nvSpPr>
          <p:spPr>
            <a:xfrm>
              <a:off x="3546281" y="646042"/>
              <a:ext cx="1798619" cy="715332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Acompanhamento de </a:t>
              </a:r>
              <a:r>
                <a:rPr lang="pt-BR" sz="1050" b="1" dirty="0" err="1">
                  <a:solidFill>
                    <a:schemeClr val="tx1"/>
                  </a:solidFill>
                </a:rPr>
                <a:t>Proj</a:t>
              </a:r>
              <a:r>
                <a:rPr lang="pt-BR" sz="1050" b="1" dirty="0">
                  <a:solidFill>
                    <a:schemeClr val="tx1"/>
                  </a:solidFill>
                </a:rPr>
                <a:t>. de Fomento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63" name="Retângulo: Cantos Diagonais Arredondados 62">
              <a:extLst>
                <a:ext uri="{FF2B5EF4-FFF2-40B4-BE49-F238E27FC236}">
                  <a16:creationId xmlns:a16="http://schemas.microsoft.com/office/drawing/2014/main" id="{40EDA721-1780-700A-333C-FA1681084C9C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9</a:t>
              </a:r>
            </a:p>
          </p:txBody>
        </p:sp>
      </p:grpSp>
      <p:cxnSp>
        <p:nvCxnSpPr>
          <p:cNvPr id="128" name="Conector reto 165">
            <a:extLst>
              <a:ext uri="{FF2B5EF4-FFF2-40B4-BE49-F238E27FC236}">
                <a16:creationId xmlns:a16="http://schemas.microsoft.com/office/drawing/2014/main" id="{D37B53A3-9182-2230-53E1-248EEC329DB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021751" y="3094750"/>
            <a:ext cx="271089" cy="829918"/>
          </a:xfrm>
          <a:prstGeom prst="bentConnector3">
            <a:avLst>
              <a:gd name="adj1" fmla="val -356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Conector reto 167">
            <a:extLst>
              <a:ext uri="{FF2B5EF4-FFF2-40B4-BE49-F238E27FC236}">
                <a16:creationId xmlns:a16="http://schemas.microsoft.com/office/drawing/2014/main" id="{612BF160-FE50-14A5-1EE9-25D7F8CE0BD2}"/>
              </a:ext>
            </a:extLst>
          </p:cNvPr>
          <p:cNvCxnSpPr>
            <a:cxnSpLocks/>
            <a:stCxn id="56" idx="1"/>
            <a:endCxn id="62" idx="1"/>
          </p:cNvCxnSpPr>
          <p:nvPr/>
        </p:nvCxnSpPr>
        <p:spPr>
          <a:xfrm rot="10800000" flipH="1" flipV="1">
            <a:off x="9026618" y="3105019"/>
            <a:ext cx="260029" cy="1651529"/>
          </a:xfrm>
          <a:prstGeom prst="bentConnector3">
            <a:avLst>
              <a:gd name="adj1" fmla="val -3715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88AE0C9-E05D-4402-395F-EFD0887C208F}"/>
              </a:ext>
            </a:extLst>
          </p:cNvPr>
          <p:cNvGrpSpPr/>
          <p:nvPr/>
        </p:nvGrpSpPr>
        <p:grpSpPr>
          <a:xfrm>
            <a:off x="9297708" y="5287248"/>
            <a:ext cx="1867813" cy="732106"/>
            <a:chOff x="3546281" y="646041"/>
            <a:chExt cx="1798620" cy="73210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A1D75A67-EC94-95E6-F276-9A15F5BD92AD}"/>
                </a:ext>
              </a:extLst>
            </p:cNvPr>
            <p:cNvSpPr/>
            <p:nvPr/>
          </p:nvSpPr>
          <p:spPr>
            <a:xfrm>
              <a:off x="3546281" y="646042"/>
              <a:ext cx="1798619" cy="732105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Transparência e Estatísticas Internas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(Cristiana Almeida)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36" name="Retângulo: Cantos Diagonais Arredondados 35">
              <a:extLst>
                <a:ext uri="{FF2B5EF4-FFF2-40B4-BE49-F238E27FC236}">
                  <a16:creationId xmlns:a16="http://schemas.microsoft.com/office/drawing/2014/main" id="{E15A6ED3-6EC6-5213-8ECD-D3545FF00F0F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12</a:t>
              </a:r>
            </a:p>
          </p:txBody>
        </p:sp>
      </p:grpSp>
      <p:cxnSp>
        <p:nvCxnSpPr>
          <p:cNvPr id="38" name="Conector reto 167">
            <a:extLst>
              <a:ext uri="{FF2B5EF4-FFF2-40B4-BE49-F238E27FC236}">
                <a16:creationId xmlns:a16="http://schemas.microsoft.com/office/drawing/2014/main" id="{174DDA4B-4D6E-039C-CDCE-AF9E77882BA5}"/>
              </a:ext>
            </a:extLst>
          </p:cNvPr>
          <p:cNvCxnSpPr>
            <a:cxnSpLocks/>
            <a:stCxn id="56" idx="1"/>
            <a:endCxn id="13" idx="1"/>
          </p:cNvCxnSpPr>
          <p:nvPr/>
        </p:nvCxnSpPr>
        <p:spPr>
          <a:xfrm rot="10800000" flipH="1" flipV="1">
            <a:off x="9026618" y="3105020"/>
            <a:ext cx="271089" cy="2548282"/>
          </a:xfrm>
          <a:prstGeom prst="bentConnector3">
            <a:avLst>
              <a:gd name="adj1" fmla="val -356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A7C07F5-E846-4A29-488F-1294BF230ACB}"/>
              </a:ext>
            </a:extLst>
          </p:cNvPr>
          <p:cNvCxnSpPr>
            <a:cxnSpLocks/>
            <a:stCxn id="9" idx="2"/>
            <a:endCxn id="21" idx="0"/>
          </p:cNvCxnSpPr>
          <p:nvPr/>
        </p:nvCxnSpPr>
        <p:spPr>
          <a:xfrm>
            <a:off x="6905804" y="1738674"/>
            <a:ext cx="0" cy="988783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FEF5E86B-9910-72E8-FE02-2CC4CEECCB9D}"/>
              </a:ext>
            </a:extLst>
          </p:cNvPr>
          <p:cNvCxnSpPr>
            <a:cxnSpLocks/>
            <a:stCxn id="56" idx="0"/>
            <a:endCxn id="9" idx="2"/>
          </p:cNvCxnSpPr>
          <p:nvPr/>
        </p:nvCxnSpPr>
        <p:spPr>
          <a:xfrm rot="16200000" flipV="1">
            <a:off x="7998160" y="646319"/>
            <a:ext cx="1005555" cy="3190266"/>
          </a:xfrm>
          <a:prstGeom prst="bentConnector3">
            <a:avLst>
              <a:gd name="adj1" fmla="val 3515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DA73C188-2C8E-3677-C4C2-44D20CC20D39}"/>
              </a:ext>
            </a:extLst>
          </p:cNvPr>
          <p:cNvGrpSpPr/>
          <p:nvPr/>
        </p:nvGrpSpPr>
        <p:grpSpPr>
          <a:xfrm>
            <a:off x="8981496" y="1565170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4" name="Retângulo: Cantos Arredondados 133">
              <a:extLst>
                <a:ext uri="{FF2B5EF4-FFF2-40B4-BE49-F238E27FC236}">
                  <a16:creationId xmlns:a16="http://schemas.microsoft.com/office/drawing/2014/main" id="{99AAA28A-CC20-FA7D-8CC1-2337502C66C5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Conselho Nacional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(Juliana Feo)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35" name="Retângulo: Cantos Diagonais Arredondados 134">
              <a:extLst>
                <a:ext uri="{FF2B5EF4-FFF2-40B4-BE49-F238E27FC236}">
                  <a16:creationId xmlns:a16="http://schemas.microsoft.com/office/drawing/2014/main" id="{99DA22EE-1214-A404-F70C-0A03A05FD52A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</a:t>
              </a:r>
            </a:p>
          </p:txBody>
        </p:sp>
      </p:grpSp>
      <p:cxnSp>
        <p:nvCxnSpPr>
          <p:cNvPr id="136" name="Conector reto 50">
            <a:extLst>
              <a:ext uri="{FF2B5EF4-FFF2-40B4-BE49-F238E27FC236}">
                <a16:creationId xmlns:a16="http://schemas.microsoft.com/office/drawing/2014/main" id="{2631A2A6-39D6-F218-92D8-5B0FF432AD5E}"/>
              </a:ext>
            </a:extLst>
          </p:cNvPr>
          <p:cNvCxnSpPr>
            <a:cxnSpLocks/>
            <a:stCxn id="134" idx="1"/>
            <a:endCxn id="9" idx="2"/>
          </p:cNvCxnSpPr>
          <p:nvPr/>
        </p:nvCxnSpPr>
        <p:spPr>
          <a:xfrm rot="10800000">
            <a:off x="6905804" y="1738675"/>
            <a:ext cx="2075692" cy="187287"/>
          </a:xfrm>
          <a:prstGeom prst="bentConnector2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70F7E57-BC85-22B0-CF45-D829962D0BF8}"/>
              </a:ext>
            </a:extLst>
          </p:cNvPr>
          <p:cNvGrpSpPr/>
          <p:nvPr/>
        </p:nvGrpSpPr>
        <p:grpSpPr>
          <a:xfrm>
            <a:off x="6085134" y="4324817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E799CA1-1102-1880-E660-57A6D87CF170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Negócios 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 Inovação e Tecnologia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(Maicon Lacerda)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tângulo: Cantos Diagonais Arredondados 16">
              <a:extLst>
                <a:ext uri="{FF2B5EF4-FFF2-40B4-BE49-F238E27FC236}">
                  <a16:creationId xmlns:a16="http://schemas.microsoft.com/office/drawing/2014/main" id="{FCCC08C3-81EF-CD66-C6F6-6002C0D491DF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13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6096A9B-CC5F-5248-1029-65CA520A7CAE}"/>
              </a:ext>
            </a:extLst>
          </p:cNvPr>
          <p:cNvGrpSpPr/>
          <p:nvPr/>
        </p:nvGrpSpPr>
        <p:grpSpPr>
          <a:xfrm>
            <a:off x="6085134" y="5056923"/>
            <a:ext cx="1867813" cy="732106"/>
            <a:chOff x="3546281" y="646041"/>
            <a:chExt cx="1798620" cy="73210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D3643700-5722-9842-1B9B-A9187684B9BA}"/>
                </a:ext>
              </a:extLst>
            </p:cNvPr>
            <p:cNvSpPr/>
            <p:nvPr/>
          </p:nvSpPr>
          <p:spPr>
            <a:xfrm>
              <a:off x="3546281" y="646042"/>
              <a:ext cx="1798619" cy="732105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Operações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Inovação e Tecnologia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(Patrícia Martins)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29" name="Retângulo: Cantos Diagonais Arredondados 28">
              <a:extLst>
                <a:ext uri="{FF2B5EF4-FFF2-40B4-BE49-F238E27FC236}">
                  <a16:creationId xmlns:a16="http://schemas.microsoft.com/office/drawing/2014/main" id="{AA7A965B-22E7-D354-F54D-FF5E89893BB0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21</a:t>
              </a:r>
            </a:p>
          </p:txBody>
        </p:sp>
      </p:grpSp>
      <p:cxnSp>
        <p:nvCxnSpPr>
          <p:cNvPr id="37" name="Conector reto 165">
            <a:extLst>
              <a:ext uri="{FF2B5EF4-FFF2-40B4-BE49-F238E27FC236}">
                <a16:creationId xmlns:a16="http://schemas.microsoft.com/office/drawing/2014/main" id="{1E91E44C-AE33-97C4-4A89-119ECDC1FE34}"/>
              </a:ext>
            </a:extLst>
          </p:cNvPr>
          <p:cNvCxnSpPr>
            <a:cxnSpLocks/>
            <a:stCxn id="21" idx="1"/>
            <a:endCxn id="8" idx="1"/>
          </p:cNvCxnSpPr>
          <p:nvPr/>
        </p:nvCxnSpPr>
        <p:spPr>
          <a:xfrm rot="10800000" flipH="1" flipV="1">
            <a:off x="5836352" y="3088248"/>
            <a:ext cx="248781" cy="1551226"/>
          </a:xfrm>
          <a:prstGeom prst="bentConnector3">
            <a:avLst>
              <a:gd name="adj1" fmla="val -9188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ector reto 165">
            <a:extLst>
              <a:ext uri="{FF2B5EF4-FFF2-40B4-BE49-F238E27FC236}">
                <a16:creationId xmlns:a16="http://schemas.microsoft.com/office/drawing/2014/main" id="{384770F1-5AFB-DB0F-A03E-BCB3B08C6CB1}"/>
              </a:ext>
            </a:extLst>
          </p:cNvPr>
          <p:cNvCxnSpPr>
            <a:cxnSpLocks/>
            <a:stCxn id="21" idx="1"/>
            <a:endCxn id="19" idx="1"/>
          </p:cNvCxnSpPr>
          <p:nvPr/>
        </p:nvCxnSpPr>
        <p:spPr>
          <a:xfrm rot="10800000" flipH="1" flipV="1">
            <a:off x="5836352" y="3088247"/>
            <a:ext cx="248781" cy="2334729"/>
          </a:xfrm>
          <a:prstGeom prst="bentConnector3">
            <a:avLst>
              <a:gd name="adj1" fmla="val -9188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01D15C-8444-BC0E-DE13-38A2E5E9EC2A}"/>
              </a:ext>
            </a:extLst>
          </p:cNvPr>
          <p:cNvSpPr txBox="1"/>
          <p:nvPr/>
        </p:nvSpPr>
        <p:spPr>
          <a:xfrm>
            <a:off x="11005014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sp>
        <p:nvSpPr>
          <p:cNvPr id="5" name="Retângulo: Cantos Diagonais Arredondados 4">
            <a:extLst>
              <a:ext uri="{FF2B5EF4-FFF2-40B4-BE49-F238E27FC236}">
                <a16:creationId xmlns:a16="http://schemas.microsoft.com/office/drawing/2014/main" id="{E4C78DB3-E8F5-4FEA-D888-EBC988CB4C3D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169</a:t>
            </a:r>
            <a:endParaRPr lang="pt-BR" sz="3200" b="1" dirty="0"/>
          </a:p>
        </p:txBody>
      </p:sp>
      <p:sp>
        <p:nvSpPr>
          <p:cNvPr id="35" name="Retângulo: Cantos Diagonais Arredondados 34">
            <a:extLst>
              <a:ext uri="{FF2B5EF4-FFF2-40B4-BE49-F238E27FC236}">
                <a16:creationId xmlns:a16="http://schemas.microsoft.com/office/drawing/2014/main" id="{AEF7BE1F-E98D-F7CE-C67C-56DE616C1F13}"/>
              </a:ext>
            </a:extLst>
          </p:cNvPr>
          <p:cNvSpPr/>
          <p:nvPr/>
        </p:nvSpPr>
        <p:spPr>
          <a:xfrm>
            <a:off x="4676323" y="2410051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50</a:t>
            </a:r>
          </a:p>
        </p:txBody>
      </p:sp>
      <p:sp>
        <p:nvSpPr>
          <p:cNvPr id="40" name="Retângulo: Cantos Diagonais Arredondados 39">
            <a:extLst>
              <a:ext uri="{FF2B5EF4-FFF2-40B4-BE49-F238E27FC236}">
                <a16:creationId xmlns:a16="http://schemas.microsoft.com/office/drawing/2014/main" id="{112EDA70-E94D-2D7E-288F-97CC111290C2}"/>
              </a:ext>
            </a:extLst>
          </p:cNvPr>
          <p:cNvSpPr/>
          <p:nvPr/>
        </p:nvSpPr>
        <p:spPr>
          <a:xfrm>
            <a:off x="7467916" y="2433891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48</a:t>
            </a:r>
          </a:p>
        </p:txBody>
      </p:sp>
      <p:sp>
        <p:nvSpPr>
          <p:cNvPr id="44" name="Retângulo: Cantos Diagonais Arredondados 43">
            <a:extLst>
              <a:ext uri="{FF2B5EF4-FFF2-40B4-BE49-F238E27FC236}">
                <a16:creationId xmlns:a16="http://schemas.microsoft.com/office/drawing/2014/main" id="{0DB051CA-4785-5263-BE12-E90F6BEE2CD8}"/>
              </a:ext>
            </a:extLst>
          </p:cNvPr>
          <p:cNvSpPr/>
          <p:nvPr/>
        </p:nvSpPr>
        <p:spPr>
          <a:xfrm>
            <a:off x="10648196" y="2450912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32</a:t>
            </a:r>
          </a:p>
        </p:txBody>
      </p:sp>
      <p:sp>
        <p:nvSpPr>
          <p:cNvPr id="130" name="Retângulo: Cantos Arredondados 129">
            <a:extLst>
              <a:ext uri="{FF2B5EF4-FFF2-40B4-BE49-F238E27FC236}">
                <a16:creationId xmlns:a16="http://schemas.microsoft.com/office/drawing/2014/main" id="{D3DB8447-6D94-B437-F742-5A3BBCFB6DC2}"/>
              </a:ext>
            </a:extLst>
          </p:cNvPr>
          <p:cNvSpPr/>
          <p:nvPr/>
        </p:nvSpPr>
        <p:spPr>
          <a:xfrm>
            <a:off x="430125" y="1774348"/>
            <a:ext cx="2138902" cy="721581"/>
          </a:xfrm>
          <a:prstGeom prst="roundRect">
            <a:avLst>
              <a:gd name="adj" fmla="val 9109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tx1"/>
                </a:solidFill>
              </a:rPr>
              <a:t>Diretoria de Instituto Integrador</a:t>
            </a:r>
            <a:br>
              <a:rPr lang="pt-BR" sz="1200" b="1" dirty="0">
                <a:solidFill>
                  <a:schemeClr val="tx1"/>
                </a:solidFill>
              </a:rPr>
            </a:br>
            <a:r>
              <a:rPr lang="pt-BR" sz="900" i="1" dirty="0">
                <a:solidFill>
                  <a:schemeClr val="tx1"/>
                </a:solidFill>
              </a:rPr>
              <a:t>(Jefferson de Oliveira Gomes)</a:t>
            </a:r>
          </a:p>
        </p:txBody>
      </p:sp>
      <p:cxnSp>
        <p:nvCxnSpPr>
          <p:cNvPr id="132" name="Conector reto 50">
            <a:extLst>
              <a:ext uri="{FF2B5EF4-FFF2-40B4-BE49-F238E27FC236}">
                <a16:creationId xmlns:a16="http://schemas.microsoft.com/office/drawing/2014/main" id="{44779407-6F93-D476-C4B0-15B112017972}"/>
              </a:ext>
            </a:extLst>
          </p:cNvPr>
          <p:cNvCxnSpPr>
            <a:cxnSpLocks/>
            <a:stCxn id="9" idx="2"/>
            <a:endCxn id="130" idx="3"/>
          </p:cNvCxnSpPr>
          <p:nvPr/>
        </p:nvCxnSpPr>
        <p:spPr>
          <a:xfrm rot="5400000">
            <a:off x="4539184" y="-231482"/>
            <a:ext cx="396465" cy="4336777"/>
          </a:xfrm>
          <a:prstGeom prst="bentConnector2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8789BE75-DE6A-88D3-6AF6-4FBBCD1C0220}"/>
              </a:ext>
            </a:extLst>
          </p:cNvPr>
          <p:cNvGrpSpPr/>
          <p:nvPr/>
        </p:nvGrpSpPr>
        <p:grpSpPr>
          <a:xfrm>
            <a:off x="435112" y="3004308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5" name="Retângulo: Cantos Arredondados 144">
              <a:extLst>
                <a:ext uri="{FF2B5EF4-FFF2-40B4-BE49-F238E27FC236}">
                  <a16:creationId xmlns:a16="http://schemas.microsoft.com/office/drawing/2014/main" id="{E0A72FA6-9379-8E8E-C9B4-CD3413C0B648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Superintendência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de Projetos de Inovação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(Carlos Alberto </a:t>
              </a:r>
              <a:r>
                <a:rPr lang="pt-BR" sz="900" i="1" dirty="0" err="1">
                  <a:solidFill>
                    <a:schemeClr val="tx1"/>
                  </a:solidFill>
                </a:rPr>
                <a:t>Bork</a:t>
              </a:r>
              <a:r>
                <a:rPr lang="pt-BR" sz="900" i="1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46" name="Retângulo: Cantos Diagonais Arredondados 145">
              <a:extLst>
                <a:ext uri="{FF2B5EF4-FFF2-40B4-BE49-F238E27FC236}">
                  <a16:creationId xmlns:a16="http://schemas.microsoft.com/office/drawing/2014/main" id="{5E8FE98E-45B7-2908-D2F5-1F14262ED57A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2</a:t>
              </a:r>
            </a:p>
          </p:txBody>
        </p:sp>
      </p:grp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0886EF83-05CB-B539-6D88-BB05F713EF03}"/>
              </a:ext>
            </a:extLst>
          </p:cNvPr>
          <p:cNvGrpSpPr/>
          <p:nvPr/>
        </p:nvGrpSpPr>
        <p:grpSpPr>
          <a:xfrm>
            <a:off x="706202" y="3936628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8" name="Retângulo: Cantos Arredondados 147">
              <a:extLst>
                <a:ext uri="{FF2B5EF4-FFF2-40B4-BE49-F238E27FC236}">
                  <a16:creationId xmlns:a16="http://schemas.microsoft.com/office/drawing/2014/main" id="{B912D09E-CC9F-0122-0086-D91B279EB2DF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 Projetos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de Inovação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(Alessandro </a:t>
              </a:r>
              <a:r>
                <a:rPr lang="pt-BR" sz="900" i="1" dirty="0" err="1">
                  <a:solidFill>
                    <a:schemeClr val="tx1"/>
                  </a:solidFill>
                </a:rPr>
                <a:t>Rizzato</a:t>
              </a:r>
              <a:r>
                <a:rPr lang="pt-BR" sz="900" i="1" dirty="0">
                  <a:solidFill>
                    <a:schemeClr val="tx1"/>
                  </a:solidFill>
                </a:rPr>
                <a:t>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49" name="Retângulo: Cantos Diagonais Arredondados 148">
              <a:extLst>
                <a:ext uri="{FF2B5EF4-FFF2-40B4-BE49-F238E27FC236}">
                  <a16:creationId xmlns:a16="http://schemas.microsoft.com/office/drawing/2014/main" id="{764774C9-7778-B9EA-3E0A-917E5F30F12B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1</a:t>
              </a:r>
            </a:p>
          </p:txBody>
        </p:sp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1480236A-3B3E-9FA8-9A31-D7C69AC6CF45}"/>
              </a:ext>
            </a:extLst>
          </p:cNvPr>
          <p:cNvGrpSpPr/>
          <p:nvPr/>
        </p:nvGrpSpPr>
        <p:grpSpPr>
          <a:xfrm>
            <a:off x="695142" y="4657936"/>
            <a:ext cx="1867813" cy="629312"/>
            <a:chOff x="3546281" y="646041"/>
            <a:chExt cx="1798620" cy="629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1" name="Retângulo: Cantos Arredondados 150">
              <a:extLst>
                <a:ext uri="{FF2B5EF4-FFF2-40B4-BE49-F238E27FC236}">
                  <a16:creationId xmlns:a16="http://schemas.microsoft.com/office/drawing/2014/main" id="{D11FC360-5377-8C4B-9792-977637E88A33}"/>
                </a:ext>
              </a:extLst>
            </p:cNvPr>
            <p:cNvSpPr/>
            <p:nvPr/>
          </p:nvSpPr>
          <p:spPr>
            <a:xfrm>
              <a:off x="3546281" y="646042"/>
              <a:ext cx="1798619" cy="62931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050" b="1" dirty="0">
                  <a:solidFill>
                    <a:schemeClr val="tx1"/>
                  </a:solidFill>
                </a:rPr>
                <a:t>Gerência de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Escritório de Projetos</a:t>
              </a:r>
              <a:br>
                <a:rPr lang="pt-BR" sz="1050" b="1" dirty="0">
                  <a:solidFill>
                    <a:schemeClr val="tx1"/>
                  </a:solidFill>
                </a:rPr>
              </a:br>
              <a:r>
                <a:rPr lang="pt-BR" sz="1050" b="1" dirty="0">
                  <a:solidFill>
                    <a:schemeClr val="tx1"/>
                  </a:solidFill>
                </a:rPr>
                <a:t>e Iniciativas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900" i="1" dirty="0">
                  <a:solidFill>
                    <a:schemeClr val="tx1"/>
                  </a:solidFill>
                </a:rPr>
                <a:t>(Paula Nadai)</a:t>
              </a:r>
              <a:endParaRPr lang="pt-BR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52" name="Retângulo: Cantos Diagonais Arredondados 151">
              <a:extLst>
                <a:ext uri="{FF2B5EF4-FFF2-40B4-BE49-F238E27FC236}">
                  <a16:creationId xmlns:a16="http://schemas.microsoft.com/office/drawing/2014/main" id="{D61F8266-1814-5135-8C9C-B22F9EBCE739}"/>
                </a:ext>
              </a:extLst>
            </p:cNvPr>
            <p:cNvSpPr/>
            <p:nvPr/>
          </p:nvSpPr>
          <p:spPr>
            <a:xfrm>
              <a:off x="4929064" y="646041"/>
              <a:ext cx="415837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b="1" dirty="0"/>
                <a:t>28</a:t>
              </a:r>
            </a:p>
          </p:txBody>
        </p:sp>
      </p:grpSp>
      <p:cxnSp>
        <p:nvCxnSpPr>
          <p:cNvPr id="153" name="Conector reto 165">
            <a:extLst>
              <a:ext uri="{FF2B5EF4-FFF2-40B4-BE49-F238E27FC236}">
                <a16:creationId xmlns:a16="http://schemas.microsoft.com/office/drawing/2014/main" id="{972D119A-1D0D-F56C-4DA1-5CC3ECD3F5C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30245" y="3411097"/>
            <a:ext cx="271089" cy="829918"/>
          </a:xfrm>
          <a:prstGeom prst="bentConnector3">
            <a:avLst>
              <a:gd name="adj1" fmla="val -356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Conector reto 167">
            <a:extLst>
              <a:ext uri="{FF2B5EF4-FFF2-40B4-BE49-F238E27FC236}">
                <a16:creationId xmlns:a16="http://schemas.microsoft.com/office/drawing/2014/main" id="{D882AD7C-A1D5-CB66-3852-FF0ED60D24D0}"/>
              </a:ext>
            </a:extLst>
          </p:cNvPr>
          <p:cNvCxnSpPr>
            <a:cxnSpLocks/>
            <a:stCxn id="145" idx="1"/>
            <a:endCxn id="151" idx="1"/>
          </p:cNvCxnSpPr>
          <p:nvPr/>
        </p:nvCxnSpPr>
        <p:spPr>
          <a:xfrm rot="10800000" flipH="1" flipV="1">
            <a:off x="435112" y="3365099"/>
            <a:ext cx="260030" cy="1607494"/>
          </a:xfrm>
          <a:prstGeom prst="bentConnector3">
            <a:avLst>
              <a:gd name="adj1" fmla="val -4029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5" name="Retângulo: Cantos Diagonais Arredondados 154">
            <a:extLst>
              <a:ext uri="{FF2B5EF4-FFF2-40B4-BE49-F238E27FC236}">
                <a16:creationId xmlns:a16="http://schemas.microsoft.com/office/drawing/2014/main" id="{F9D6EF11-17E8-4ABF-A49E-4A3BF895ED26}"/>
              </a:ext>
            </a:extLst>
          </p:cNvPr>
          <p:cNvSpPr/>
          <p:nvPr/>
        </p:nvSpPr>
        <p:spPr>
          <a:xfrm>
            <a:off x="2077924" y="1463762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chemeClr val="accent6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32</a:t>
            </a:r>
          </a:p>
        </p:txBody>
      </p:sp>
      <p:cxnSp>
        <p:nvCxnSpPr>
          <p:cNvPr id="157" name="Conector reto 156">
            <a:extLst>
              <a:ext uri="{FF2B5EF4-FFF2-40B4-BE49-F238E27FC236}">
                <a16:creationId xmlns:a16="http://schemas.microsoft.com/office/drawing/2014/main" id="{A42EA1FB-A413-5071-B901-E872C308E3FC}"/>
              </a:ext>
            </a:extLst>
          </p:cNvPr>
          <p:cNvCxnSpPr>
            <a:stCxn id="145" idx="0"/>
            <a:endCxn id="130" idx="2"/>
          </p:cNvCxnSpPr>
          <p:nvPr/>
        </p:nvCxnSpPr>
        <p:spPr>
          <a:xfrm flipH="1" flipV="1">
            <a:off x="1499576" y="2495929"/>
            <a:ext cx="4987" cy="508379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0" name="Retângulo: Cantos Diagonais Arredondados 159">
            <a:extLst>
              <a:ext uri="{FF2B5EF4-FFF2-40B4-BE49-F238E27FC236}">
                <a16:creationId xmlns:a16="http://schemas.microsoft.com/office/drawing/2014/main" id="{94B46124-BF1A-4A6D-3C41-1D9308C1872B}"/>
              </a:ext>
            </a:extLst>
          </p:cNvPr>
          <p:cNvSpPr/>
          <p:nvPr/>
        </p:nvSpPr>
        <p:spPr>
          <a:xfrm>
            <a:off x="2073431" y="1774347"/>
            <a:ext cx="485030" cy="252455"/>
          </a:xfrm>
          <a:prstGeom prst="round2DiagRect">
            <a:avLst>
              <a:gd name="adj1" fmla="val 0"/>
              <a:gd name="adj2" fmla="val 42458"/>
            </a:avLst>
          </a:prstGeom>
          <a:solidFill>
            <a:srgbClr val="0070C0"/>
          </a:solidFill>
          <a:ln>
            <a:solidFill>
              <a:srgbClr val="40404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07845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3F360-D37D-ABF4-A105-03CEDC17D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45">
            <a:extLst>
              <a:ext uri="{FF2B5EF4-FFF2-40B4-BE49-F238E27FC236}">
                <a16:creationId xmlns:a16="http://schemas.microsoft.com/office/drawing/2014/main" id="{55B40F82-78FD-786B-05BC-A8850B32BD73}"/>
              </a:ext>
            </a:extLst>
          </p:cNvPr>
          <p:cNvCxnSpPr>
            <a:cxnSpLocks/>
            <a:stCxn id="3" idx="3"/>
            <a:endCxn id="9" idx="2"/>
          </p:cNvCxnSpPr>
          <p:nvPr/>
        </p:nvCxnSpPr>
        <p:spPr>
          <a:xfrm flipV="1">
            <a:off x="4239906" y="2337540"/>
            <a:ext cx="1851102" cy="862647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ector reto 45">
            <a:extLst>
              <a:ext uri="{FF2B5EF4-FFF2-40B4-BE49-F238E27FC236}">
                <a16:creationId xmlns:a16="http://schemas.microsoft.com/office/drawing/2014/main" id="{FB1CBFA0-586C-99D7-3D61-6869B1B3DC7E}"/>
              </a:ext>
            </a:extLst>
          </p:cNvPr>
          <p:cNvCxnSpPr>
            <a:cxnSpLocks/>
            <a:stCxn id="9" idx="2"/>
            <a:endCxn id="6" idx="1"/>
          </p:cNvCxnSpPr>
          <p:nvPr/>
        </p:nvCxnSpPr>
        <p:spPr>
          <a:xfrm rot="16200000" flipH="1">
            <a:off x="6512164" y="1916384"/>
            <a:ext cx="862646" cy="1704958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5C8E091-3C12-A1D6-6C7F-669CFAA22615}"/>
              </a:ext>
            </a:extLst>
          </p:cNvPr>
          <p:cNvGrpSpPr/>
          <p:nvPr/>
        </p:nvGrpSpPr>
        <p:grpSpPr>
          <a:xfrm>
            <a:off x="4974551" y="1271025"/>
            <a:ext cx="2232914" cy="1066515"/>
            <a:chOff x="3546282" y="646041"/>
            <a:chExt cx="2138902" cy="10665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8B30C37-6E95-0A0D-BE27-48D63B04D11F}"/>
                </a:ext>
              </a:extLst>
            </p:cNvPr>
            <p:cNvSpPr/>
            <p:nvPr/>
          </p:nvSpPr>
          <p:spPr>
            <a:xfrm>
              <a:off x="3546282" y="646041"/>
              <a:ext cx="2138902" cy="1066515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solidFill>
                    <a:schemeClr val="tx1"/>
                  </a:solidFill>
                </a:rPr>
                <a:t>Superintendência do IEL/NC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(Sarah Saldanha)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tângulo: Cantos Diagonais Arredondados 9">
              <a:extLst>
                <a:ext uri="{FF2B5EF4-FFF2-40B4-BE49-F238E27FC236}">
                  <a16:creationId xmlns:a16="http://schemas.microsoft.com/office/drawing/2014/main" id="{FCE352EC-73CA-2A9E-5CCB-B78ED505295C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9</a:t>
              </a:r>
            </a:p>
          </p:txBody>
        </p:sp>
      </p:grp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1842B611-70EA-7A9E-20F3-50817792D3B2}"/>
              </a:ext>
            </a:extLst>
          </p:cNvPr>
          <p:cNvSpPr txBox="1"/>
          <p:nvPr/>
        </p:nvSpPr>
        <p:spPr>
          <a:xfrm>
            <a:off x="90940" y="34939"/>
            <a:ext cx="7441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1"/>
                </a:solidFill>
              </a:rPr>
              <a:t>Superintendência do IEL/NC</a:t>
            </a:r>
            <a:endParaRPr lang="pt-BR" sz="3600" b="1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5243325-047F-E678-0CB5-C33FE9B57692}"/>
              </a:ext>
            </a:extLst>
          </p:cNvPr>
          <p:cNvGrpSpPr/>
          <p:nvPr/>
        </p:nvGrpSpPr>
        <p:grpSpPr>
          <a:xfrm>
            <a:off x="2101004" y="2839396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D523727D-A610-33C3-95E3-3FBA577059A1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 Carreiras e Educação Executiva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(Michelle Pescara)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" name="Retângulo: Cantos Diagonais Arredondados 3">
              <a:extLst>
                <a:ext uri="{FF2B5EF4-FFF2-40B4-BE49-F238E27FC236}">
                  <a16:creationId xmlns:a16="http://schemas.microsoft.com/office/drawing/2014/main" id="{F3A87331-6388-7F0C-925B-5FE591D6C139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6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7FE7346-14B4-EE29-A1B8-E0A164E4814A}"/>
              </a:ext>
            </a:extLst>
          </p:cNvPr>
          <p:cNvGrpSpPr/>
          <p:nvPr/>
        </p:nvGrpSpPr>
        <p:grpSpPr>
          <a:xfrm>
            <a:off x="7795966" y="2839395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CD361EBE-419D-8590-17F3-33ACFC50532B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 Gestão Empresarial e Inovação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tângulo: Cantos Diagonais Arredondados 13">
              <a:extLst>
                <a:ext uri="{FF2B5EF4-FFF2-40B4-BE49-F238E27FC236}">
                  <a16:creationId xmlns:a16="http://schemas.microsoft.com/office/drawing/2014/main" id="{037CAF62-CBC6-8F22-A6C1-1DD889E26E38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6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116EDA-5584-CE48-D717-0490CA324C3B}"/>
              </a:ext>
            </a:extLst>
          </p:cNvPr>
          <p:cNvSpPr txBox="1"/>
          <p:nvPr/>
        </p:nvSpPr>
        <p:spPr>
          <a:xfrm>
            <a:off x="11120398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sp>
        <p:nvSpPr>
          <p:cNvPr id="13" name="Retângulo: Cantos Diagonais Arredondados 12">
            <a:extLst>
              <a:ext uri="{FF2B5EF4-FFF2-40B4-BE49-F238E27FC236}">
                <a16:creationId xmlns:a16="http://schemas.microsoft.com/office/drawing/2014/main" id="{11912151-969D-E7B1-0216-788383D16994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21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3590379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48231-90BC-377F-A72C-762CFDDD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1F682DD-FA6C-4380-85CC-69B93B1C0CD8}"/>
              </a:ext>
            </a:extLst>
          </p:cNvPr>
          <p:cNvGrpSpPr/>
          <p:nvPr/>
        </p:nvGrpSpPr>
        <p:grpSpPr>
          <a:xfrm>
            <a:off x="4779998" y="2362485"/>
            <a:ext cx="2232914" cy="1066515"/>
            <a:chOff x="3546282" y="646041"/>
            <a:chExt cx="2138902" cy="10665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A2E75DF-EC83-0FE8-44AF-43B486B07B74}"/>
                </a:ext>
              </a:extLst>
            </p:cNvPr>
            <p:cNvSpPr/>
            <p:nvPr/>
          </p:nvSpPr>
          <p:spPr>
            <a:xfrm>
              <a:off x="3546282" y="646041"/>
              <a:ext cx="2138902" cy="1066515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solidFill>
                    <a:schemeClr val="tx1"/>
                  </a:solidFill>
                </a:rPr>
                <a:t>Superintendência 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600" b="1" dirty="0">
                  <a:solidFill>
                    <a:schemeClr val="tx1"/>
                  </a:solidFill>
                </a:rPr>
                <a:t>de Compliance e Integridade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(Cid Vianna)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tângulo: Cantos Diagonais Arredondados 9">
              <a:extLst>
                <a:ext uri="{FF2B5EF4-FFF2-40B4-BE49-F238E27FC236}">
                  <a16:creationId xmlns:a16="http://schemas.microsoft.com/office/drawing/2014/main" id="{DCE7FC93-B5BB-1620-CC6D-2CAB8AA3916D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2</a:t>
              </a:r>
            </a:p>
          </p:txBody>
        </p:sp>
      </p:grp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47A58BBC-411C-EE45-9D69-A17688B193D6}"/>
              </a:ext>
            </a:extLst>
          </p:cNvPr>
          <p:cNvSpPr txBox="1"/>
          <p:nvPr/>
        </p:nvSpPr>
        <p:spPr>
          <a:xfrm>
            <a:off x="90939" y="34939"/>
            <a:ext cx="11029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1"/>
                </a:solidFill>
              </a:rPr>
              <a:t>Superintendência d</a:t>
            </a:r>
            <a:r>
              <a:rPr lang="pt-BR" sz="3600" b="1" dirty="0"/>
              <a:t>e Compliance e Integridade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A0C337F-99D8-787D-76D2-1780E752066C}"/>
              </a:ext>
            </a:extLst>
          </p:cNvPr>
          <p:cNvGrpSpPr/>
          <p:nvPr/>
        </p:nvGrpSpPr>
        <p:grpSpPr>
          <a:xfrm>
            <a:off x="1821739" y="5446357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31EA5341-453C-A1CC-356E-F194929506BE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Conformidade e Integridade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(Betania Trindade)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4" name="Retângulo: Cantos Diagonais Arredondados 3">
              <a:extLst>
                <a:ext uri="{FF2B5EF4-FFF2-40B4-BE49-F238E27FC236}">
                  <a16:creationId xmlns:a16="http://schemas.microsoft.com/office/drawing/2014/main" id="{A975730C-D453-B761-4C70-C06F7E46672E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11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3A665250-4229-77EA-37A2-789366FBBA9D}"/>
              </a:ext>
            </a:extLst>
          </p:cNvPr>
          <p:cNvGrpSpPr/>
          <p:nvPr/>
        </p:nvGrpSpPr>
        <p:grpSpPr>
          <a:xfrm>
            <a:off x="7516701" y="5446356"/>
            <a:ext cx="2138902" cy="808780"/>
            <a:chOff x="3546282" y="646042"/>
            <a:chExt cx="2138902" cy="8087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DD9B3864-BA45-6DAD-2CE1-1221105F7F63}"/>
                </a:ext>
              </a:extLst>
            </p:cNvPr>
            <p:cNvSpPr/>
            <p:nvPr/>
          </p:nvSpPr>
          <p:spPr>
            <a:xfrm>
              <a:off x="3546282" y="646042"/>
              <a:ext cx="2138902" cy="808780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Gerência de 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200" b="1" dirty="0">
                  <a:solidFill>
                    <a:schemeClr val="tx1"/>
                  </a:solidFill>
                </a:rPr>
                <a:t>Monitoramento e Gestão de Riscos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(Carla Domingues)</a:t>
              </a:r>
            </a:p>
          </p:txBody>
        </p:sp>
        <p:sp>
          <p:nvSpPr>
            <p:cNvPr id="14" name="Retângulo: Cantos Diagonais Arredondados 13">
              <a:extLst>
                <a:ext uri="{FF2B5EF4-FFF2-40B4-BE49-F238E27FC236}">
                  <a16:creationId xmlns:a16="http://schemas.microsoft.com/office/drawing/2014/main" id="{BC4055F9-54C2-43D2-F86C-5ADDB2537F8D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10</a:t>
              </a:r>
            </a:p>
          </p:txBody>
        </p:sp>
      </p:grpSp>
      <p:cxnSp>
        <p:nvCxnSpPr>
          <p:cNvPr id="15" name="Conector reto 45">
            <a:extLst>
              <a:ext uri="{FF2B5EF4-FFF2-40B4-BE49-F238E27FC236}">
                <a16:creationId xmlns:a16="http://schemas.microsoft.com/office/drawing/2014/main" id="{62A231C4-E77B-F5D1-3DE6-EC4BD045A4BD}"/>
              </a:ext>
            </a:extLst>
          </p:cNvPr>
          <p:cNvCxnSpPr>
            <a:cxnSpLocks/>
            <a:stCxn id="3" idx="0"/>
            <a:endCxn id="9" idx="2"/>
          </p:cNvCxnSpPr>
          <p:nvPr/>
        </p:nvCxnSpPr>
        <p:spPr>
          <a:xfrm rot="5400000" flipH="1" flipV="1">
            <a:off x="3385144" y="2935047"/>
            <a:ext cx="2017357" cy="300526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ector reto 45">
            <a:extLst>
              <a:ext uri="{FF2B5EF4-FFF2-40B4-BE49-F238E27FC236}">
                <a16:creationId xmlns:a16="http://schemas.microsoft.com/office/drawing/2014/main" id="{28EBE124-8A45-88DB-29CC-A0799D678A73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 rot="16200000" flipH="1">
            <a:off x="6232625" y="3092829"/>
            <a:ext cx="2017356" cy="268969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0C91C055-45A2-BF88-C389-A74217BC7F9F}"/>
              </a:ext>
            </a:extLst>
          </p:cNvPr>
          <p:cNvGrpSpPr/>
          <p:nvPr/>
        </p:nvGrpSpPr>
        <p:grpSpPr>
          <a:xfrm>
            <a:off x="1717561" y="3412194"/>
            <a:ext cx="2138902" cy="721581"/>
            <a:chOff x="3546282" y="646042"/>
            <a:chExt cx="2138902" cy="7215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1AC7F982-2B4F-2B49-AA7D-D61D6AAA748B}"/>
                </a:ext>
              </a:extLst>
            </p:cNvPr>
            <p:cNvSpPr/>
            <p:nvPr/>
          </p:nvSpPr>
          <p:spPr>
            <a:xfrm>
              <a:off x="3546282" y="646042"/>
              <a:ext cx="2138902" cy="721581"/>
            </a:xfrm>
            <a:prstGeom prst="roundRect">
              <a:avLst>
                <a:gd name="adj" fmla="val 9109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Ouvidoria</a:t>
              </a:r>
              <a:br>
                <a:rPr lang="pt-BR" sz="1600" b="1" dirty="0">
                  <a:solidFill>
                    <a:schemeClr val="tx1"/>
                  </a:solidFill>
                </a:rPr>
              </a:br>
              <a:r>
                <a:rPr lang="pt-BR" sz="1050" i="1" dirty="0">
                  <a:solidFill>
                    <a:schemeClr val="tx1"/>
                  </a:solidFill>
                </a:rPr>
                <a:t>(Monica Ortega)</a:t>
              </a:r>
              <a:endParaRPr lang="pt-B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tângulo: Cantos Diagonais Arredondados 18">
              <a:extLst>
                <a:ext uri="{FF2B5EF4-FFF2-40B4-BE49-F238E27FC236}">
                  <a16:creationId xmlns:a16="http://schemas.microsoft.com/office/drawing/2014/main" id="{688F1B6B-411C-5C18-DBE7-DED1A025D2DF}"/>
                </a:ext>
              </a:extLst>
            </p:cNvPr>
            <p:cNvSpPr/>
            <p:nvPr/>
          </p:nvSpPr>
          <p:spPr>
            <a:xfrm>
              <a:off x="5200154" y="646042"/>
              <a:ext cx="485030" cy="252455"/>
            </a:xfrm>
            <a:prstGeom prst="round2DiagRect">
              <a:avLst>
                <a:gd name="adj1" fmla="val 0"/>
                <a:gd name="adj2" fmla="val 42458"/>
              </a:avLst>
            </a:prstGeom>
            <a:solidFill>
              <a:srgbClr val="0070C0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 dirty="0"/>
                <a:t>2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3E6D11-0740-A02D-E931-BE0F8C7F3C8E}"/>
              </a:ext>
            </a:extLst>
          </p:cNvPr>
          <p:cNvSpPr txBox="1"/>
          <p:nvPr/>
        </p:nvSpPr>
        <p:spPr>
          <a:xfrm>
            <a:off x="11120398" y="6611779"/>
            <a:ext cx="1096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50000"/>
                  </a:schemeClr>
                </a:solidFill>
              </a:rPr>
              <a:t>Base Maio 2026</a:t>
            </a:r>
          </a:p>
        </p:txBody>
      </p:sp>
      <p:cxnSp>
        <p:nvCxnSpPr>
          <p:cNvPr id="7" name="Conector reto 177">
            <a:extLst>
              <a:ext uri="{FF2B5EF4-FFF2-40B4-BE49-F238E27FC236}">
                <a16:creationId xmlns:a16="http://schemas.microsoft.com/office/drawing/2014/main" id="{37A21BF3-9BB6-3409-185F-FC1BA3CFEED8}"/>
              </a:ext>
            </a:extLst>
          </p:cNvPr>
          <p:cNvCxnSpPr>
            <a:cxnSpLocks/>
            <a:stCxn id="16" idx="2"/>
            <a:endCxn id="9" idx="0"/>
          </p:cNvCxnSpPr>
          <p:nvPr/>
        </p:nvCxnSpPr>
        <p:spPr>
          <a:xfrm rot="5400000">
            <a:off x="6875583" y="661643"/>
            <a:ext cx="721715" cy="2679969"/>
          </a:xfrm>
          <a:prstGeom prst="bentConnector3">
            <a:avLst>
              <a:gd name="adj1" fmla="val 9565"/>
            </a:avLst>
          </a:prstGeom>
          <a:ln w="19050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40334FB-340D-EF0C-98F2-BA725164CF27}"/>
              </a:ext>
            </a:extLst>
          </p:cNvPr>
          <p:cNvSpPr/>
          <p:nvPr/>
        </p:nvSpPr>
        <p:spPr>
          <a:xfrm>
            <a:off x="7506973" y="1233932"/>
            <a:ext cx="2138902" cy="406838"/>
          </a:xfrm>
          <a:prstGeom prst="roundRect">
            <a:avLst>
              <a:gd name="adj" fmla="val 9109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1"/>
                </a:solidFill>
              </a:rPr>
              <a:t>Diretoria da CNI</a:t>
            </a:r>
            <a:endParaRPr lang="pt-BR" sz="1600" i="1" dirty="0">
              <a:solidFill>
                <a:schemeClr val="tx1"/>
              </a:solidFill>
            </a:endParaRPr>
          </a:p>
        </p:txBody>
      </p:sp>
      <p:cxnSp>
        <p:nvCxnSpPr>
          <p:cNvPr id="33" name="Conector: Angulado 32">
            <a:extLst>
              <a:ext uri="{FF2B5EF4-FFF2-40B4-BE49-F238E27FC236}">
                <a16:creationId xmlns:a16="http://schemas.microsoft.com/office/drawing/2014/main" id="{77E09C7C-685E-0EA2-A280-F639B2832D86}"/>
              </a:ext>
            </a:extLst>
          </p:cNvPr>
          <p:cNvCxnSpPr>
            <a:cxnSpLocks/>
            <a:stCxn id="18" idx="3"/>
            <a:endCxn id="9" idx="2"/>
          </p:cNvCxnSpPr>
          <p:nvPr/>
        </p:nvCxnSpPr>
        <p:spPr>
          <a:xfrm flipV="1">
            <a:off x="3856463" y="3429000"/>
            <a:ext cx="2039992" cy="34398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D0C2BD30-74FC-9FA3-70D7-49193C41A9C1}"/>
              </a:ext>
            </a:extLst>
          </p:cNvPr>
          <p:cNvSpPr/>
          <p:nvPr/>
        </p:nvSpPr>
        <p:spPr>
          <a:xfrm>
            <a:off x="7503596" y="1780540"/>
            <a:ext cx="2138902" cy="406838"/>
          </a:xfrm>
          <a:prstGeom prst="roundRect">
            <a:avLst>
              <a:gd name="adj" fmla="val 9109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1"/>
                </a:solidFill>
              </a:rPr>
              <a:t>Presidência </a:t>
            </a:r>
            <a:endParaRPr lang="pt-BR" sz="1600" i="1" dirty="0">
              <a:solidFill>
                <a:schemeClr val="tx1"/>
              </a:solidFill>
            </a:endParaRPr>
          </a:p>
        </p:txBody>
      </p: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26361EF0-3133-7694-AD9C-E565FB4437E7}"/>
              </a:ext>
            </a:extLst>
          </p:cNvPr>
          <p:cNvCxnSpPr>
            <a:stCxn id="16" idx="2"/>
            <a:endCxn id="39" idx="0"/>
          </p:cNvCxnSpPr>
          <p:nvPr/>
        </p:nvCxnSpPr>
        <p:spPr>
          <a:xfrm rot="5400000">
            <a:off x="8504851" y="1708967"/>
            <a:ext cx="139770" cy="3377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tângulo: Cantos Diagonais Arredondados 48">
            <a:extLst>
              <a:ext uri="{FF2B5EF4-FFF2-40B4-BE49-F238E27FC236}">
                <a16:creationId xmlns:a16="http://schemas.microsoft.com/office/drawing/2014/main" id="{0D75E0F7-28D7-A2D0-7841-823DEE5ED238}"/>
              </a:ext>
            </a:extLst>
          </p:cNvPr>
          <p:cNvSpPr/>
          <p:nvPr/>
        </p:nvSpPr>
        <p:spPr>
          <a:xfrm>
            <a:off x="11120398" y="34939"/>
            <a:ext cx="980661" cy="646331"/>
          </a:xfrm>
          <a:prstGeom prst="round2DiagRect">
            <a:avLst>
              <a:gd name="adj1" fmla="val 31262"/>
              <a:gd name="adj2" fmla="val 0"/>
            </a:avLst>
          </a:prstGeom>
          <a:solidFill>
            <a:srgbClr val="0070C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25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41194967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1569</Words>
  <Application>Microsoft Office PowerPoint</Application>
  <PresentationFormat>Widescreen</PresentationFormat>
  <Paragraphs>311</Paragraphs>
  <Slides>11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Pedro dos Santos Santana</dc:creator>
  <cp:lastModifiedBy>Joao Pedro dos Santos Santana</cp:lastModifiedBy>
  <cp:revision>14</cp:revision>
  <dcterms:created xsi:type="dcterms:W3CDTF">2026-06-11T12:04:47Z</dcterms:created>
  <dcterms:modified xsi:type="dcterms:W3CDTF">2026-07-01T17:56:01Z</dcterms:modified>
</cp:coreProperties>
</file>